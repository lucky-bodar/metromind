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5"/>
  </p:notesMasterIdLst>
  <p:handoutMasterIdLst>
    <p:handoutMasterId r:id="rId26"/>
  </p:handoutMasterIdLst>
  <p:sldIdLst>
    <p:sldId id="1051" r:id="rId2"/>
    <p:sldId id="1052" r:id="rId3"/>
    <p:sldId id="1053" r:id="rId4"/>
    <p:sldId id="1047" r:id="rId5"/>
    <p:sldId id="1048" r:id="rId6"/>
    <p:sldId id="1055" r:id="rId7"/>
    <p:sldId id="1056" r:id="rId8"/>
    <p:sldId id="1057" r:id="rId9"/>
    <p:sldId id="1058" r:id="rId10"/>
    <p:sldId id="1059" r:id="rId11"/>
    <p:sldId id="1060" r:id="rId12"/>
    <p:sldId id="1074" r:id="rId32"/>
    <p:sldId id="1075" r:id="rId33"/>
    <p:sldId id="1076" r:id="rId34"/>
    <p:sldId id="1079" r:id="rId37"/>
    <p:sldId id="1077" r:id="rId35"/>
    <p:sldId id="1078" r:id="rId36"/>
    <p:sldId id="1061" r:id="rId13"/>
    <p:sldId id="1062" r:id="rId14"/>
    <p:sldId id="1063" r:id="rId15"/>
    <p:sldId id="1064" r:id="rId16"/>
    <p:sldId id="1065" r:id="rId17"/>
    <p:sldId id="1080" r:id="rId38"/>
    <p:sldId id="1083" r:id="rId41"/>
    <p:sldId id="1081" r:id="rId39"/>
    <p:sldId id="1082" r:id="rId40"/>
    <p:sldId id="1066" r:id="rId18"/>
    <p:sldId id="1068" r:id="rId19"/>
    <p:sldId id="1069" r:id="rId20"/>
    <p:sldId id="1070" r:id="rId21"/>
    <p:sldId id="1071" r:id="rId22"/>
    <p:sldId id="1072" r:id="rId23"/>
    <p:sldId id="1073" r:id="rId2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658"/>
  </p:normalViewPr>
  <p:slideViewPr>
    <p:cSldViewPr snapToGrid="0">
      <p:cViewPr varScale="1">
        <p:scale>
          <a:sx n="120" d="100"/>
          <a:sy n="120" d="100"/>
        </p:scale>
        <p:origin x="8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7.xml"/><Relationship Id="rId19" Type="http://schemas.openxmlformats.org/officeDocument/2006/relationships/slide" Target="slides/slide28.xml"/><Relationship Id="rId20" Type="http://schemas.openxmlformats.org/officeDocument/2006/relationships/slide" Target="slides/slide29.xml"/><Relationship Id="rId21" Type="http://schemas.openxmlformats.org/officeDocument/2006/relationships/slide" Target="slides/slide30.xml"/><Relationship Id="rId22" Type="http://schemas.openxmlformats.org/officeDocument/2006/relationships/slide" Target="slides/slide31.xml"/><Relationship Id="rId23" Type="http://schemas.openxmlformats.org/officeDocument/2006/relationships/slide" Target="slides/slide32.xml"/><Relationship Id="rId24" Type="http://schemas.openxmlformats.org/officeDocument/2006/relationships/slide" Target="slides/slide3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5.xml"/><Relationship Id="rId38" Type="http://schemas.openxmlformats.org/officeDocument/2006/relationships/slide" Target="slides/slide23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1" Type="http://schemas.openxmlformats.org/officeDocument/2006/relationships/image" Target="../media/proto_p2.png"/><Relationship Id="rId12" Type="http://schemas.openxmlformats.org/officeDocument/2006/relationships/image" Target="../media/proto_p3.png"/><Relationship Id="rId13" Type="http://schemas.openxmlformats.org/officeDocument/2006/relationships/image" Target="../media/proto_p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1" Type="http://schemas.openxmlformats.org/officeDocument/2006/relationships/image" Target="../media/dash_heatmap.png"/><Relationship Id="rId12" Type="http://schemas.openxmlformats.org/officeDocument/2006/relationships/image" Target="../media/dash_cityprofile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2106574"/>
            <a:ext cx="8534400" cy="4555996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defRPr sz="1800" b="1">
                <a:latin typeface="Times New Roman"/>
              </a:defRPr>
            </a:pPr>
            <a:r>
              <a:t>Team Members:</a:t>
            </a:r>
          </a:p>
          <a:p>
            <a:pPr>
              <a:defRPr sz="1600" b="0">
                <a:latin typeface="Times New Roman"/>
              </a:defRPr>
            </a:pPr>
            <a:r>
              <a:t>1. Akshat Kishore – 2411021060556</a:t>
            </a:r>
          </a:p>
          <a:p>
            <a:pPr>
              <a:defRPr sz="1600" b="0">
                <a:latin typeface="Times New Roman"/>
              </a:defRPr>
            </a:pPr>
            <a:r>
              <a:t>2. Arya Utkarsh – 2411021060543</a:t>
            </a:r>
          </a:p>
          <a:p>
            <a:pPr>
              <a:defRPr sz="1600" b="0">
                <a:latin typeface="Times New Roman"/>
              </a:defRPr>
            </a:pPr>
            <a:r>
              <a:t>3. Bodar Lucky Kumar – 2411021060517</a:t>
            </a:r>
          </a:p>
          <a:p>
            <a:pPr>
              <a:defRPr sz="1600" b="0">
                <a:latin typeface="Times New Roman"/>
              </a:defRPr>
            </a:pPr>
            <a:r>
              <a:t>4. D. Sai Shikhar Achari – 2411021060542</a:t>
            </a:r>
          </a:p>
          <a:p>
            <a:pPr>
              <a:defRPr sz="1000" b="0">
                <a:latin typeface="Times New Roman"/>
              </a:defRPr>
            </a:pPr>
          </a:p>
          <a:p>
            <a:pPr>
              <a:defRPr sz="1800" b="1">
                <a:latin typeface="Times New Roman"/>
              </a:defRPr>
            </a:pPr>
            <a:r>
              <a:t>Project Mentor: Dr. C. Viji</a:t>
            </a:r>
          </a:p>
          <a:p>
            <a:pPr>
              <a:defRPr sz="1600" b="1">
                <a:latin typeface="Times New Roman"/>
              </a:defRPr>
            </a:pPr>
            <a:r>
              <a:t>E1CSA313 Design Project – I | Department of Computer Science &amp; Engineering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071448" y="865998"/>
            <a:ext cx="7332183" cy="749114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Times New Roman" pitchFamily="18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>
              <a:defRPr sz="2800" b="1">
                <a:solidFill>
                  <a:srgbClr val="0B1730"/>
                </a:solidFill>
                <a:latin typeface="Times New Roman"/>
              </a:defRPr>
            </a:pPr>
            <a:r>
              <a:t>MetroMind: AI-Driven Spatio-Temporal Traffic Optimization &amp; Congestion Bottleneck Diagnosis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5000"/>
              </a:lnSpc>
              <a:defRPr sz="1700" b="0">
                <a:latin typeface="Times New Roman"/>
              </a:defRPr>
            </a:pPr>
            <a:r>
              <a:t>1. Spatio-Temporal Domain Formulation &amp; Systematic Literature Review</a:t>
            </a:r>
          </a:p>
          <a:p>
            <a:pPr>
              <a:lnSpc>
                <a:spcPct val="125000"/>
              </a:lnSpc>
              <a:defRPr sz="1700" b="0">
                <a:latin typeface="Times New Roman"/>
              </a:defRPr>
            </a:pPr>
            <a:r>
              <a:t>2. Empirical Limitations of Existing Intelligent Transportation Systems (ITS)</a:t>
            </a:r>
          </a:p>
          <a:p>
            <a:pPr>
              <a:lnSpc>
                <a:spcPct val="125000"/>
              </a:lnSpc>
              <a:defRPr sz="1700" b="0">
                <a:latin typeface="Times New Roman"/>
              </a:defRPr>
            </a:pPr>
            <a:r>
              <a:t>3. Mathematical Problem Formulation, Capacity Constraints &amp; Project Scope</a:t>
            </a:r>
          </a:p>
          <a:p>
            <a:pPr>
              <a:lnSpc>
                <a:spcPct val="125000"/>
              </a:lnSpc>
              <a:defRPr sz="1700" b="0">
                <a:latin typeface="Times New Roman"/>
              </a:defRPr>
            </a:pPr>
            <a:r>
              <a:t>4. Multi-Source Telemetry Architecture (D1–D5) &amp; 8-Stage Preprocessing Pipeline</a:t>
            </a:r>
          </a:p>
          <a:p>
            <a:pPr>
              <a:lnSpc>
                <a:spcPct val="125000"/>
              </a:lnSpc>
              <a:defRPr sz="1700" b="0">
                <a:latin typeface="Times New Roman"/>
              </a:defRPr>
            </a:pPr>
            <a:r>
              <a:t>5. Algorithmic Formulation: TTI Fusion Engine, Constrained Dijkstra &amp; Spill-Over Suppression</a:t>
            </a:r>
          </a:p>
          <a:p>
            <a:pPr>
              <a:lnSpc>
                <a:spcPct val="125000"/>
              </a:lnSpc>
              <a:defRPr sz="1700" b="0">
                <a:latin typeface="Times New Roman"/>
              </a:defRPr>
            </a:pPr>
            <a:r>
              <a:t>6. Full-Stack Implementation (Leaflet/Esri, Node.js/Express, Neon PostgreSQL) &amp; Pilot Evaluation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t>Technical Agenda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t>Introduction &amp; Problem Context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18000"/>
              </a:lnSpc>
              <a:defRPr sz="1500" b="0">
                <a:latin typeface="Times New Roman"/>
              </a:defRPr>
            </a:pPr>
            <a:r>
              <a:t>• Urban Grid Dynamics: Rapid urbanization in major metropolitan grids (e.g., Bengaluru) induces non-linear arterial traffic breakdown, severe travel-time variance, and localized choke points caused by asymmetric demand propagation.</a:t>
            </a:r>
          </a:p>
          <a:p>
            <a:pPr>
              <a:lnSpc>
                <a:spcPct val="118000"/>
              </a:lnSpc>
              <a:defRPr sz="1500" b="0">
                <a:latin typeface="Times New Roman"/>
              </a:defRPr>
            </a:pPr>
            <a:r>
              <a:t>• Spatio-Temporal Graph Representation: Models urban road networks as a directed multigraph G = (V, E, W_t), where vertices V denote 80 transit hubs and edges E denote arterial sections weighted by dynamic Travel Time Indices (TTI).</a:t>
            </a:r>
          </a:p>
          <a:p>
            <a:pPr>
              <a:lnSpc>
                <a:spcPct val="118000"/>
              </a:lnSpc>
              <a:defRPr sz="1500" b="0">
                <a:latin typeface="Times New Roman"/>
              </a:defRPr>
            </a:pPr>
            <a:r>
              <a:t>• Multi-Source Telemetry Fusion (D1–D4): Fuses historical Kaggle time-series baselines (D1), real-time camera/sensor streams (D3, 65% weight), micro-weather adjustments (D4), and crowdsourced commuter probes (D2, 35% weight).</a:t>
            </a:r>
          </a:p>
          <a:p>
            <a:pPr>
              <a:lnSpc>
                <a:spcPct val="118000"/>
              </a:lnSpc>
              <a:defRPr sz="1500" b="0">
                <a:latin typeface="Times New Roman"/>
              </a:defRPr>
            </a:pPr>
            <a:r>
              <a:t>• Discretized Bottleneck Localization: Pinpoints the critical delay-inducing edge e* = argmax(T_actual - T_free) and classifies the root cause into capacity saturation (V/C ratio), weather drag, or physical incident disruption.</a:t>
            </a:r>
          </a:p>
          <a:p>
            <a:pPr>
              <a:lnSpc>
                <a:spcPct val="118000"/>
              </a:lnSpc>
              <a:defRPr sz="1500" b="0">
                <a:latin typeface="Times New Roman"/>
              </a:defRPr>
            </a:pPr>
            <a:r>
              <a:t>• Spill-Over Constrained Decision Engine: Evaluates downstream capacity before recommending alternatives, suppressing any diversion that forces secondary collector congestion above 75% (preventing Braess’s Paradox).</a:t>
            </a:r>
          </a:p>
          <a:p>
            <a:pPr>
              <a:lnSpc>
                <a:spcPct val="118000"/>
              </a:lnSpc>
              <a:defRPr sz="1500" b="0">
                <a:latin typeface="Times New Roman"/>
              </a:defRPr>
            </a:pPr>
            <a:r>
              <a:t>• Differential Privacy &amp; Macro Summaries: Enforces spatial edge-snapping and a strict k-anonymity aggregation floor (k &gt;= 5) in PostgreSQL, generating corridor-level performance heatmaps (D5) without trajectory leakage.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(1/2)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683254"/>
              </p:ext>
            </p:extLst>
          </p:nvPr>
        </p:nvGraphicFramePr>
        <p:xfrm>
          <a:off x="417535" y="986016"/>
          <a:ext cx="11356929" cy="5731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latin typeface="Times New Roman"/>
                        </a:rPr>
                        <a:t>S.No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Kumar, K. D., Anitha, M. L., &amp; Veena, M. N., Int. J. Transport Development &amp; Integration (Scopus-indexed), 2025 (BASE PAPER)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congestion prediction for Bengaluru city intersections using CNN, LSTM and SVR (plus hybrids) on 16,705 traffic records; CNN-based multi-location congestion detection with routing recommendations.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gave the best fit (R² ≈ 0.99); models compared on RMSE, MAE and R² with a 60/20/20 train-validation-test split.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Closest match to MetroMind: Indian metro city, intersection-level congestion prediction and route recommendation in one pipeline.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on an offline Kaggle dataset; no live commuter app, travel-time estimate, what-if simulation or anonymous corridor dashboard.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Chu, T., Wang, J., Codecà, L., &amp; Li, Z., IEEE Trans. Intelligent Transportation Systems, 2020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advantage actor-critic (MA2C) deep RL for adaptive signal control, tested on a synthetic grid and the real Monaco road network in SUMO.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Outperformed independent-agent RL and baseline controllers on queue length, delay and sample efficiency.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road network; coordinates neighbouring intersections instead of optimising each in isolation.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 full SUMO simulation and RL training stack; controls signal hardware, no commuter-facing app.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Bao, J., Wu, C., Lin, Y., Zhong, L., Chen, X., &amp; Yin, R., Scientific Reports, 2023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RL for traffic signal control: local intersection agents share part of their network with a global cloud model and fine-tune the rest locally.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queuing and waiting times; generalised to unseen intersections on the Monaco network.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Scales across many intersections with lower communication cost and privacy-friendly training.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Simulation-only; needs sensing and communication at every junction; no commuter feedback loop.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Schade, E., Savino, G.-L., Gunal, Y., &amp; Schöning, J., PLOS ONE, 2024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analysis of 90 news articles on the negative social externalities of large-scale GPS navigation rerouting.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Catalogued harms (congestion, damage, pollution, accidents) and city responses such as street closures and turn restrictions.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cross-city evidence that rerouting pushes congestion onto residential streets.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Media-based rather than sensor-based; does not quantify spill-over or offer a spill-over-aware routing design.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Gimpel, H., Heger, S., &amp; Wöhl, M., Information Technology and Management, 2022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Design-science study: mobile eco-driving feedback app built on 7 design principles, evaluated in an 8-week field study (82 drivers, 1,253 trips).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≈4% average fuel reduction for the version with social-comparison feedback (p = 0.022).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field study; reusable design principles for mobile feedback systems.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domain (driving style); modest effect; not corridor- or congestion-aware.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5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(2/2)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478596"/>
              </p:ext>
            </p:extLst>
          </p:nvPr>
        </p:nvGraphicFramePr>
        <p:xfrm>
          <a:off x="417535" y="986016"/>
          <a:ext cx="11356929" cy="5731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latin typeface="Times New Roman"/>
                        </a:rPr>
                        <a:t>S.No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Yang, L., Bian, Y., Zhao, X., Liu, X., &amp; Yao, X., Int. J. Human-Computer Studies, 2021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Extended technology-acceptance-model survey (SEM) adding sense of direction, app affinity and distraction perception for navigation apps.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 drivers; model explained 60.5% of variance in intention to use.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concrete, design-relevant predictors of whether commuters keep using a traffic app.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intention, not sustained use; general drivers, not a specific corridor.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Yin, X., Wu, G., Wei, J., Shen, Y., Qi, H., &amp; Yin, B., IEEE Trans. Intelligent Transportation Systems, 2022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deep-learning traffic prediction: taxonomy of methods, datasets and applications, with experimental comparison of representative models.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Benchmarks representative deep models on public traffic datasets.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comparative coverage; guides choice of a model that fits the pilot's data volume.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Synthesis, not a deployable system; many models need more data and compute than a short pilot has.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Zimmermann, S., Schulz, T., Hein, A., Gewald, H., &amp; Krcmar, H., Journal of Decision Systems, 2024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Digital-nudging study encouraging commuters to shift from private cars to public transport through app-based trip recommendations.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Nudge effects differed across commuter segments.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commuter sample; practical, testable nudge mechanism.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Did not shift every commuter group; no congestion prediction or corridor dashboard paired with the nudge.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Reza, S., Oliveira, H. S., Machado, J. J. M., &amp; Tavares, J. M. R. S., Sensors, 2021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image-processing and deep-learning traffic management and control: state forecasting (ARIMA, SVM, LSTM, GRU, CNN, GAN) and signal control (SCATS, SCOOT, MaxPressure, RL).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models gave reasonable results but lacked robustness in oversaturated traffic.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forecasting and control together; highlights safety benefits.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only; notes limited real-world validation and camera/sensor dependence.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Saini, K., &amp; Sharma, S., ACM Computing Surveys, 2025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literature review of IoT + AI synergy for smart road traffic monitoring and management.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Synthesises sensing, prediction and control studies with real deployments (e.g. NYC Connected Vehicle Pilot).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Recent, comprehensive; justifies treating a corridor as an IoT-plus-AI system.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review; does not propose a single commuter-facing pilot design.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6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7503"/>
            <a:ext cx="11173961" cy="5400599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Predictive Modeling Fidelity: Deep spatio-temporal architectures (CNN-LSTM, SVR, Random Forest) achieve high correlation (R² ≈ 0.99, base paper Kumar et al., 2025) on historical intersection flow records.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Decentralized Signal Actuation: Multi-Agent Deep Reinforcement Learning (MA2C, Federated RL) effectively optimizes localized queue lengths and phase splits, but remains decoupled from commuter guidance interfaces.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Network Equilibrium Disruption: GPS-driven selfish routing often triggers severe negative social externalities (Braess's Paradox), redirecting high-volume arterial flows onto narrow, sensitive residential collector streets.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Participatory Sensing Viability: Crowdsourced probe trajectories provide high spatial resolution at low marginal infrastructure cost, but demand algorithmic verification and strict spatial deduplication.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Explainable Behavioral Interventions: Commuters exhibit significantly higher adherence to digital routing nudges when accompanied by transparent, causal bottleneck diagnostics rather than opaque black-box ETA values.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r>
              <a:t>Synthesis of Literature Review Observations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Computational &amp; Sensor Dependency: SOTA deep models require high-density inductive loops/CCTV coverage and heavy GPU inference infrastructure, making rapid edge deployment across developing metro grids cost-prohibitive.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Hardware Control Decoupling: Signal-control algorithms (SCATS, SCOOT, RL) act solely on physical junction controllers, offering zero pre-trip or en-route decision support directly to the travelling commuter.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Lack of Downstream Spill-Over Safeguards: Standard shortest-path implementations (A*, Dijkstra) evaluate individual vehicle latency greedily, lacking global network constraints to prevent overloading parallel suburban arteries.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Trajectory Privacy Liabilities: Continuous GPS probe logging introduces severe spatial re-identification vulnerabilities, violating differential privacy standards without section-level quantization and group floors.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Measurement &amp; Intent Disconnect: Empirical transportation studies predominantly gauge hypothetical intention-to-use via SEM surveys, rather than logging longitudinal trip compliance on live deployed systems.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r>
              <a:t>Methodological &amp; Systemic Limitations in Prior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00000"/>
            <a:ext cx="10972800" cy="5600000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Mathematical Problem Formulation: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Given a directed multigraph G = (V, E) of an urban road network, an origin-destination query (u, v) in V at departure epoch t0, and a dynamic flow vector x_t in R^d, determine an optimal path R* minimizing trip latency T(R, t0), extract the critical bottleneck edge e* maximizing segment delay (tau_e - tau_free), and identify a non-violating diversion R_alt satisfying max_{e in R_alt} Congestion(e) &lt;= 75%, while strictly preserving k-anonymity (k &gt;= 5) over all persisted trip records.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Technical Project Scope: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• Spatial Topology: Directed multigraph G = (V, E) of 80 nodes and 17 primary arterial corridors across Bengaluru's urban core.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• Temporal Discretization: 5-minute discrete time slots (288 epochs/day) modeling weekday/weekend cyclical traffic dynamics.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• Telemetry Ingestion: Offline Kaggle time-series (D1), commuter probes (D2), live sensor slots (D3), and weather vectors (D4).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• Full-Stack Implementation: Node.js/Express REST microservices, Neon Serverless PostgreSQL with SSL pooling, and Leaflet/Esri cartography.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• Differential Privacy Boundary: Minimum group size thresholding (k &gt;= 5) ensuring zero trajectory or PII exposure in macro-corridor analytics.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t>Formal Problem Formulation &amp; Project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3696"/>
            <a:ext cx="10972800" cy="5400599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MetroMind is an enterprise-grade intelligent transportation framework providing real-time spatio-temporal route optimization, automated bottleneck diagnosis, and capacity-constrained commuter guidance across arterial corridors.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Spatio-Temporal Graph Engine: Topologically models urban transit corridors as weighted directed graphs, computing dynamic Travel Time Indices (TTI) and speed decay across discrete edges.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Dynamic Bottleneck Attribution: Isolates the maximum-delay segment along the commuter's trajectory, attributing congestion to peak-hour volume (V/C ratio), weather friction, or physical road incidents.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Capacity-Constrained Rerouting: Dynamically generates alternative departure windows and topological detours, programmatically suppressing suggestions that increase secondary corridor congestion beyond 75%.</a:t>
            </a:r>
          </a:p>
          <a:p>
            <a:pPr>
              <a:lnSpc>
                <a:spcPct val="120000"/>
              </a:lnSpc>
              <a:defRPr sz="1500" b="0">
                <a:latin typeface="Times New Roman"/>
              </a:defRPr>
            </a:pPr>
            <a:r>
              <a:t>• Full-Stack Serverless Infrastructure: Zero-friction responsive frontend utilizing Leaflet and Esri ArcGIS tiles, backed by an Express REST API and a pooled Neon Serverless PostgreSQL database with automated session fallbacks.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t>Proposed System Architecture: MetroMind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1. Graph Modeling &amp; Multi-Source Data Ingestion: Topologically map 80 transit nodes and 17 corridors; ingest historical baselines (D1), commuter probes (D2), simulated live feeds (D3), and OSM/weather data (D4).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2. Dynamic TTI Multi-Variable Fusion: Implement real-time mathematical fusion combining baseline travel-time indices with live sensor deviation (65% weight) and meteorological dampening coefficients.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3. Root-Cause Bottleneck Localization: Formulate an algorithmic delay-maximization function to isolate bottleneck edge e* and classify causal drivers (incident vs. volume vs. precipitation).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4. Spill-Over Constrained Route Generation: Develop a candidate route evaluator that filters alternative paths to guarantee non-violation of secondary corridor capacity (C_spill &lt;= 75%).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5. Multi-Modal &amp; Temporal What-If Engine: Provide sub-second simulation comparing time shifts (±15 to ±90 min), modal shifts (car, bike, bus), and alternative paths.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6. Privacy-Preserving Cloud Aggregation: Deploy a secure REST API and Serverless PostgreSQL schema enforcing k-anonymity (k &gt;= 5) to generate macro corridor performance heatmaps (D5).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t>Core Technical Objectives of the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Stage 1 (Data Ingestion &amp; Synchronization): Ingest secondary Kaggle baseline (D1, 16,705+ records), volunteer commuter trips (D2), simulated 5-minute telemetry slots (D3, 288 slots/day), and OSM road vectors with OpenWeather API (D4).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Stage 2 (8-Stage Preprocessing Pipeline): Execute validation, key-based deduplication, median/linear imputation, IQR outlier truncation, 5-minute epoch synchronization, feature engineering, and min-max normalization.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Stage 3 (Dynamic Travel-Time Estimation): Compute dynamic section speed v_e(t) = v_free / TTI_e(t) using multi-source blending, scaling travel duration across discrete edge lengths.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Stage 4 (Bottleneck Diagnosis &amp; Causal Taxonomy): Rank trajectory edges by delay delta (T_actual - T_free) and classify bottleneck etiology using sensor counts, incident flags, and precipitation rates.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Stage 5 (Capacity-Constrained Decision Heuristic): Generate candidate departure and topological permutations; discard any route inducing edge congestion &gt; 75% on neighboring corridors.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Stage 6 (Empirical Pilot Validation &amp; Benchmarking): Evaluate predictive accuracy (RMSE, MAE, R² &gt;= 0.95), bottleneck ranking fidelity against probe reports, and System Usability Scale (SUS &gt;= 80).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t>Proposed Research &amp; Engineering 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106" y="138036"/>
            <a:ext cx="8300000" cy="563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Dataset Description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000" y="1000000"/>
          <a:ext cx="11199998" cy="463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4504"/>
                <a:gridCol w="1715315"/>
                <a:gridCol w="3027027"/>
                <a:gridCol w="3329729"/>
                <a:gridCol w="2623423"/>
              </a:tblGrid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and source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contents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Role in MetroMind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</a:tr>
              <a:tr h="8500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D1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Historical Bengaluru traffic data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Secondary. Kaggle “Bangalore City Traffic Dataset” (2022–2024), the same dataset family used in the base paper (Kumar et al., 2025).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Date, area, road/intersection, traffic volume, average speed, travel time index, congestion level, road capacity use, incident reports, weather, roadwork.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Trains and validates the baseline congestion and travel-time model (60/20/20 split).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8500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D2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Commuter trip data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Primary. Entered by volunteer commuters in the MetroMind app during the one-month pilot.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Route, start time, mode of travel, travel time, incident flag, consent flag.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Drives the personal dashboard, suggestions, comparison tool and corridor summary.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00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D3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Live corridor traffic feed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Existing corridor cameras and sensors, accessed through the traffic authority where available.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Vehicle counts, speeds and timestamps for each road section.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Gives the current congestion estimate and the bottleneck ranking.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8500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D4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 network and context data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sources: OpenStreetMap road map and a public weather service.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Section lengths, junction links, alternative routes, weather condition.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Defines road sections and alternatives; helps explain a delay.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00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D5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Anonymous corridor summary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Derived. Aggregated inside the system from D2 and D3.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Average delay per section and hour, trip counts (minimum group size applied).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Feeds the corridor dashboard and the pilot evaluation.</a:t>
                      </a:r>
                    </a:p>
                  </a:txBody>
                  <a:tcPr marL="70000" marR="70000" marT="35000" marB="3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0000" y="5950000"/>
            <a:ext cx="112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97D"/>
                </a:solidFill>
                <a:latin typeface="Times New Roman"/>
              </a:rPr>
              <a:t>Fallback: if live sensor access (D3) is not granted, the corridor state is estimated from D1 patterns and travel times reported by commuters in D2.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106" y="138036"/>
            <a:ext cx="8300000" cy="563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Data Collection: Sources and Method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0000" y="1000000"/>
            <a:ext cx="3100000" cy="52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Where the data comes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0000" y="1000000"/>
            <a:ext cx="3300000" cy="52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How it is collected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0000" y="1000000"/>
            <a:ext cx="3600000" cy="52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Where it is stored and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700000"/>
            <a:ext cx="31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1" i="0">
                <a:solidFill>
                  <a:srgbClr val="222222"/>
                </a:solidFill>
                <a:latin typeface="Times New Roman"/>
              </a:rPr>
              <a:t>D1  Kaggle Bengaluru traffic dataset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Secondary, 2022–2024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60000" y="1950000"/>
            <a:ext cx="3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50000" y="170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Downloaded once as a CSV file and imported into the database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10000" y="1950000"/>
            <a:ext cx="4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0000" y="2650000"/>
            <a:ext cx="31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1" i="0">
                <a:solidFill>
                  <a:srgbClr val="222222"/>
                </a:solidFill>
                <a:latin typeface="Times New Roman"/>
              </a:rPr>
              <a:t>D2  MetroMind app users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Primary, volunteer commuters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60000" y="2900000"/>
            <a:ext cx="3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50000" y="265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In-app trip form: route, start time, mode, travel time, incident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10000" y="2900000"/>
            <a:ext cx="4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0000" y="3600000"/>
            <a:ext cx="31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1" i="0">
                <a:solidFill>
                  <a:srgbClr val="222222"/>
                </a:solidFill>
                <a:latin typeface="Times New Roman"/>
              </a:rPr>
              <a:t>D3  Corridor cameras and sensors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Traffic authority feed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60000" y="3850000"/>
            <a:ext cx="3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50000" y="360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Feed or API read at regular intervals (planned: every 5 minutes)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10000" y="3850000"/>
            <a:ext cx="4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0000" y="4550000"/>
            <a:ext cx="31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1" i="0">
                <a:solidFill>
                  <a:srgbClr val="222222"/>
                </a:solidFill>
                <a:latin typeface="Times New Roman"/>
              </a:rPr>
              <a:t>D4  OpenStreetMap and weather service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Open data and public API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60000" y="4800000"/>
            <a:ext cx="3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50000" y="455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Map exported once at setup; weather API read hourly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10000" y="4800000"/>
            <a:ext cx="430000" cy="300000"/>
          </a:xfrm>
          <a:prstGeom prst="rightArrow">
            <a:avLst/>
          </a:prstGeom>
          <a:solidFill>
            <a:srgbClr val="5A6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0000" y="1700000"/>
            <a:ext cx="3600000" cy="3650000"/>
          </a:xfrm>
          <a:prstGeom prst="roundRect">
            <a:avLst>
              <a:gd name="adj" fmla="val 5000"/>
            </a:avLst>
          </a:prstGeom>
          <a:solidFill>
            <a:srgbClr val="25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MetroMind Database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Historical traffic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Trips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Traffic readings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Road sections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Cleaning and estimation run here. Only anonymous summaries (D5) go to the corridor dashboard.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00" y="5900000"/>
            <a:ext cx="110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A697D"/>
                </a:solidFill>
                <a:latin typeface="Times New Roman"/>
              </a:rPr>
              <a:t>Figure: Four sources feed one database. Personal details are removed before anything is shown on the corridor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106" y="138036"/>
            <a:ext cx="8300000" cy="563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Dataset Attributes (D1 to D4)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21" name="Label 21"/>
          <p:cNvSpPr/>
          <p:nvPr/>
        </p:nvSpPr>
        <p:spPr>
          <a:xfrm>
            <a:off x="420000" y="830000"/>
            <a:ext cx="545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25314F"/>
                </a:solidFill>
                <a:latin typeface="Times New Roman"/>
              </a:rPr>
              <a:t>D1  Historical Bengaluru traffic (Kaggle, 2022-2024)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420000" y="1120000"/>
          <a:ext cx="5450000" cy="2096000"/>
        </p:xfrm>
        <a:graphic>
          <a:graphicData uri="http://schemas.openxmlformats.org/drawingml/2006/table">
            <a:tbl>
              <a:tblPr firstRow="1" bandRow="1"/>
              <a:tblGrid>
                <a:gridCol w="1750000"/>
                <a:gridCol w="1250000"/>
                <a:gridCol w="2450000"/>
              </a:tblGrid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Attribute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date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2024-03-18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road_intersection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Silk Board Junction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traffic_volume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Vehicles/day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41,250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average_speed_kmph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km/h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18.5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travel_time_index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Ratio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1.9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congestion_level_pct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Index 0-100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weather_condition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Rain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23" name="Note 23"/>
          <p:cNvSpPr/>
          <p:nvPr/>
        </p:nvSpPr>
        <p:spPr>
          <a:xfrm>
            <a:off x="420000" y="3246000"/>
            <a:ext cx="545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000" b="0" i="1">
                <a:solidFill>
                  <a:srgbClr val="5A6A70"/>
                </a:solidFill>
                <a:latin typeface="Times New Roman"/>
              </a:rPr>
              <a:t>11 attributes in file; key ones shown</a:t>
            </a:r>
          </a:p>
        </p:txBody>
      </p:sp>
      <p:sp>
        <p:nvSpPr>
          <p:cNvPr id="24" name="Label 24"/>
          <p:cNvSpPr/>
          <p:nvPr/>
        </p:nvSpPr>
        <p:spPr>
          <a:xfrm>
            <a:off x="6230000" y="830000"/>
            <a:ext cx="545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25314F"/>
                </a:solidFill>
                <a:latin typeface="Times New Roman"/>
              </a:rPr>
              <a:t>D2  Commuter trip data (volunteers, in-app form)</a:t>
            </a:r>
          </a:p>
        </p:txBody>
      </p:sp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6230000" y="1120000"/>
          <a:ext cx="5450000" cy="2096000"/>
        </p:xfrm>
        <a:graphic>
          <a:graphicData uri="http://schemas.openxmlformats.org/drawingml/2006/table">
            <a:tbl>
              <a:tblPr firstRow="1" bandRow="1"/>
              <a:tblGrid>
                <a:gridCol w="1750000"/>
                <a:gridCol w="1250000"/>
                <a:gridCol w="2450000"/>
              </a:tblGrid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Attribute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trip_id / user_id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Random IDs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T-0412 / U-017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route_id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A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start_ / end_section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S1 / S4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start_time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Date-time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08:15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mode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 / bus / metro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travel_time_min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Minutes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34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incident, consent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Yes/No + type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Yes, breakdown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26" name="Note 26"/>
          <p:cNvSpPr/>
          <p:nvPr/>
        </p:nvSpPr>
        <p:spPr>
          <a:xfrm>
            <a:off x="6230000" y="3246000"/>
            <a:ext cx="545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000" b="0" i="1">
                <a:solidFill>
                  <a:srgbClr val="5A6A70"/>
                </a:solidFill>
                <a:latin typeface="Times New Roman"/>
              </a:rPr>
              <a:t>11 attributes in file; no name or phone stored</a:t>
            </a:r>
          </a:p>
        </p:txBody>
      </p:sp>
      <p:sp>
        <p:nvSpPr>
          <p:cNvPr id="27" name="Label 27"/>
          <p:cNvSpPr/>
          <p:nvPr/>
        </p:nvSpPr>
        <p:spPr>
          <a:xfrm>
            <a:off x="420000" y="3830000"/>
            <a:ext cx="545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25314F"/>
                </a:solidFill>
                <a:latin typeface="Times New Roman"/>
              </a:rPr>
              <a:t>D3  Live corridor traffic feed (cameras, sensors)</a:t>
            </a:r>
          </a:p>
        </p:txBody>
      </p:sp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420000" y="4120000"/>
          <a:ext cx="5450000" cy="2096000"/>
        </p:xfrm>
        <a:graphic>
          <a:graphicData uri="http://schemas.openxmlformats.org/drawingml/2006/table">
            <a:tbl>
              <a:tblPr firstRow="1" bandRow="1"/>
              <a:tblGrid>
                <a:gridCol w="1750000"/>
                <a:gridCol w="1250000"/>
                <a:gridCol w="2450000"/>
              </a:tblGrid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Attribute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Date-time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08:15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section_id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S3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vehicle_count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Vehicles/5 min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212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average_speed_kmph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km/h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18.5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source_type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Camera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data_quality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Valid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(read every 5 minutes)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Interval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288 per day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29" name="Note 29"/>
          <p:cNvSpPr/>
          <p:nvPr/>
        </p:nvSpPr>
        <p:spPr>
          <a:xfrm>
            <a:off x="420000" y="6246000"/>
            <a:ext cx="545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000" b="0" i="1">
                <a:solidFill>
                  <a:srgbClr val="5A6A70"/>
                </a:solidFill>
                <a:latin typeface="Times New Roman"/>
              </a:rPr>
              <a:t>6 attributes in file; quality flag set on arrival</a:t>
            </a:r>
          </a:p>
        </p:txBody>
      </p:sp>
      <p:sp>
        <p:nvSpPr>
          <p:cNvPr id="30" name="Label 30"/>
          <p:cNvSpPr/>
          <p:nvPr/>
        </p:nvSpPr>
        <p:spPr>
          <a:xfrm>
            <a:off x="6230000" y="3830000"/>
            <a:ext cx="545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25314F"/>
                </a:solidFill>
                <a:latin typeface="Times New Roman"/>
              </a:rPr>
              <a:t>D4  Road network and weather (OpenStreetMap, API)</a:t>
            </a:r>
          </a:p>
        </p:txBody>
      </p:sp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6230000" y="4120000"/>
          <a:ext cx="5450000" cy="2096000"/>
        </p:xfrm>
        <a:graphic>
          <a:graphicData uri="http://schemas.openxmlformats.org/drawingml/2006/table">
            <a:tbl>
              <a:tblPr firstRow="1" bandRow="1"/>
              <a:tblGrid>
                <a:gridCol w="1750000"/>
                <a:gridCol w="1250000"/>
                <a:gridCol w="2450000"/>
              </a:tblGrid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Attribute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section_id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S3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section_name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Bellandur - Kadubeesanahalli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length_km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km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2.4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from_ / to_junction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J3 / J4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alt_route_id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B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weather_condition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Rain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1" i="0">
                          <a:solidFill>
                            <a:srgbClr val="25314F"/>
                          </a:solidFill>
                          <a:latin typeface="Times New Roman"/>
                        </a:rPr>
                        <a:t>rainfall_mm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mm/h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3.2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32" name="Note 32"/>
          <p:cNvSpPr/>
          <p:nvPr/>
        </p:nvSpPr>
        <p:spPr>
          <a:xfrm>
            <a:off x="6230000" y="6246000"/>
            <a:ext cx="545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000" b="0" i="1">
                <a:solidFill>
                  <a:srgbClr val="5A6A70"/>
                </a:solidFill>
                <a:latin typeface="Times New Roman"/>
              </a:rPr>
              <a:t>10 attributes in file; weather read hourly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106" y="138036"/>
            <a:ext cx="8300000" cy="563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Data Preprocessing Pipeline (Steps 1 to 8)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21" name="Step 21"/>
          <p:cNvSpPr/>
          <p:nvPr/>
        </p:nvSpPr>
        <p:spPr>
          <a:xfrm>
            <a:off x="420000" y="95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1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Validate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Check file structure, data types and valid ranges, for example speed 0 to 120 km/h, travel time above zero, real dates. Rows that fail are logged.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D1  D2  D3  D4</a:t>
            </a:r>
          </a:p>
        </p:txBody>
      </p:sp>
      <p:sp>
        <p:nvSpPr>
          <p:cNvPr id="22" name="Step 22"/>
          <p:cNvSpPr/>
          <p:nvPr/>
        </p:nvSpPr>
        <p:spPr>
          <a:xfrm>
            <a:off x="3270000" y="95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2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Remove duplicates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Repeated rows are dropped using keys: trip_id for trips, section_id plus timestamp for readings, date plus road for history.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D1  D2  D3</a:t>
            </a:r>
          </a:p>
        </p:txBody>
      </p:sp>
      <p:sp>
        <p:nvSpPr>
          <p:cNvPr id="23" name="Step 23"/>
          <p:cNvSpPr/>
          <p:nvPr/>
        </p:nvSpPr>
        <p:spPr>
          <a:xfrm>
            <a:off x="6120000" y="95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3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Handle missing values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Numbers are filled with the median of the same section and time slot. Short sensor gaps (15 min or less) are interpolated. Rows with most fields empty are dropped.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D1  D3</a:t>
            </a:r>
          </a:p>
        </p:txBody>
      </p:sp>
      <p:sp>
        <p:nvSpPr>
          <p:cNvPr id="24" name="Step 24"/>
          <p:cNvSpPr/>
          <p:nvPr/>
        </p:nvSpPr>
        <p:spPr>
          <a:xfrm>
            <a:off x="8970000" y="95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4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Treat outliers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Impossible values such as zero speed on an open road or a 150 km/h reading are removed. Extreme but real values are capped by the IQR rule.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D1  D2  D3</a:t>
            </a:r>
          </a:p>
        </p:txBody>
      </p:sp>
      <p:sp>
        <p:nvSpPr>
          <p:cNvPr id="25" name="Step 25"/>
          <p:cNvSpPr/>
          <p:nvPr/>
        </p:nvSpPr>
        <p:spPr>
          <a:xfrm>
            <a:off x="420000" y="360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5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Align and integrate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Everything is mapped to section_id and 5-minute slots. Trips are rounded to sections, and hourly weather is joined to each slot.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D2  D3  D4</a:t>
            </a:r>
          </a:p>
        </p:txBody>
      </p:sp>
      <p:sp>
        <p:nvSpPr>
          <p:cNvPr id="26" name="Step 26"/>
          <p:cNvSpPr/>
          <p:nvPr/>
        </p:nvSpPr>
        <p:spPr>
          <a:xfrm>
            <a:off x="3270000" y="360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6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Encode and engineer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Time is split into hour, weekday and peak flag. Mode and weather are one-hot encoded. Travel time index and previous-slot values are added.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D1  D2  D3  D4</a:t>
            </a:r>
          </a:p>
        </p:txBody>
      </p:sp>
      <p:sp>
        <p:nvSpPr>
          <p:cNvPr id="27" name="Step 27"/>
          <p:cNvSpPr/>
          <p:nvPr/>
        </p:nvSpPr>
        <p:spPr>
          <a:xfrm>
            <a:off x="6120000" y="360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7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Protect privacy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Only random IDs are kept. Locations stay at section level. Dashboards use groups of at least 5 trips, so no person can be traced.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D2  D5</a:t>
            </a:r>
          </a:p>
        </p:txBody>
      </p:sp>
      <p:sp>
        <p:nvSpPr>
          <p:cNvPr id="28" name="Step 28"/>
          <p:cNvSpPr/>
          <p:nvPr/>
        </p:nvSpPr>
        <p:spPr>
          <a:xfrm>
            <a:off x="8970000" y="3600000"/>
            <a:ext cx="2700000" cy="248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t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i="0">
                <a:solidFill>
                  <a:srgbClr val="367888"/>
                </a:solidFill>
                <a:latin typeface="Times New Roman"/>
              </a:rPr>
              <a:t>8  </a:t>
            </a:r>
            <a:r>
              <a:rPr lang="en-US" sz="1500" b="1" i="0">
                <a:solidFill>
                  <a:srgbClr val="25314F"/>
                </a:solidFill>
                <a:latin typeface="Times New Roman"/>
              </a:rPr>
              <a:t>Scale and split</a:t>
            </a:r>
          </a:p>
          <a:p>
            <a:pPr algn="l">
              <a:spcBef>
                <a:spcPts val="700"/>
              </a:spcBef>
            </a:pPr>
            <a:r>
              <a:rPr lang="en-US" sz="1300" b="0" i="0">
                <a:solidFill>
                  <a:srgbClr val="222222"/>
                </a:solidFill>
                <a:latin typeface="Times New Roman"/>
              </a:rPr>
              <a:t>Values are min-max scaled using training data only, to avoid leakage. Data is split 60/20/20 in time order, never shuffled.</a:t>
            </a:r>
          </a:p>
          <a:p>
            <a:pPr algn="l">
              <a:spcBef>
                <a:spcPts val="800"/>
              </a:spcBef>
            </a:pPr>
            <a:r>
              <a:rPr lang="en-US" sz="1100" b="1" i="0">
                <a:solidFill>
                  <a:srgbClr val="367888"/>
                </a:solidFill>
                <a:latin typeface="Times New Roman"/>
              </a:rPr>
              <a:t>Applied to: </a:t>
            </a:r>
            <a:r>
              <a:rPr lang="en-US" sz="1100" b="1" i="0">
                <a:solidFill>
                  <a:srgbClr val="25314F"/>
                </a:solidFill>
                <a:latin typeface="Times New Roman"/>
              </a:rPr>
              <a:t>D1  D3</a:t>
            </a:r>
          </a:p>
        </p:txBody>
      </p:sp>
      <p:sp>
        <p:nvSpPr>
          <p:cNvPr id="29" name="Note 29"/>
          <p:cNvSpPr/>
          <p:nvPr/>
        </p:nvSpPr>
        <p:spPr>
          <a:xfrm>
            <a:off x="420000" y="6200000"/>
            <a:ext cx="113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0" i="1">
                <a:solidFill>
                  <a:srgbClr val="5A6A70"/>
                </a:solidFill>
                <a:latin typeface="Times New Roman"/>
              </a:rPr>
              <a:t>Result: clean, section-aligned tables, ready for estimation. Raw files are never overwritten, so every step can be repeated and audited.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106" y="138036"/>
            <a:ext cx="8300000" cy="563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Methodology: How the Datasets Are Used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420000" y="950000"/>
          <a:ext cx="10950000" cy="4550000"/>
        </p:xfrm>
        <a:graphic>
          <a:graphicData uri="http://schemas.openxmlformats.org/drawingml/2006/table">
            <a:tbl>
              <a:tblPr firstRow="1" bandRow="1"/>
              <a:tblGrid>
                <a:gridCol w="1650000"/>
                <a:gridCol w="5500000"/>
                <a:gridCol w="1500000"/>
                <a:gridCol w="2300000"/>
              </a:tblGrid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happens and how the data is used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Datasets used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Output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367888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25314F"/>
                          </a:solidFill>
                          <a:latin typeface="Times New Roman"/>
                        </a:rPr>
                        <a:t>1  Collect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D1 CSV imported once. D2 trips entered in the app. D3 sensor feed read every 5 min. D4 map exported once, weather read hourly.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D1  D2  D3  D4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Raw tables in the MetroMind database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25314F"/>
                          </a:solidFill>
                          <a:latin typeface="Times New Roman"/>
                        </a:rPr>
                        <a:t>2  Preprocess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Validate, remove duplicates, fill gaps, treat outliers, align to sections and slots, remove personal details (8 steps).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D1  D2  D3  D4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Clean, section-aligned tables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25314F"/>
                          </a:solidFill>
                          <a:latin typeface="Times New Roman"/>
                        </a:rPr>
                        <a:t>3  Estimate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Congestion index per section. Travel time = length / speed. Baseline model learns patterns from D1, then is updated with live D3 readings to predict the next slot.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D1  D3  D4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Congestion and travel time per section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25314F"/>
                          </a:solidFill>
                          <a:latin typeface="Times New Roman"/>
                        </a:rPr>
                        <a:t>4  Diagnose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Rank sections by delay. The top section is the bottleneck. Reason is read from speed, volume, incidents and weather.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D3  D2  D4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Bottleneck with a plain-language reason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25314F"/>
                          </a:solidFill>
                          <a:latin typeface="Times New Roman"/>
                        </a:rPr>
                        <a:t>5  Guide and compare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Rules choose one action: route, time or mode. Load on nearby roads is checked first. The comparison tool re-runs the estimate for the user's alternative.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D2  D3  D4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suggestion and a comparison result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E8F1F3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1" i="0">
                          <a:solidFill>
                            <a:srgbClr val="25314F"/>
                          </a:solidFill>
                          <a:latin typeface="Times New Roman"/>
                        </a:rPr>
                        <a:t>6  Evaluate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One-month pilot. Prediction error on the test set, bottleneck ranking against commuters' reports, usability and privacy checks.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D1  D2  D3  D5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Pilot evaluation report</a:t>
                      </a:r>
                    </a:p>
                  </a:txBody>
                  <a:tcPr marL="72000" marR="54000" marT="28000" marB="28000" anchor="ctr">
                    <a:lnL w="6350">
                      <a:solidFill>
                        <a:srgbClr val="B8C7CC"/>
                      </a:solidFill>
                    </a:lnL>
                    <a:lnR w="6350">
                      <a:solidFill>
                        <a:srgbClr val="B8C7CC"/>
                      </a:solidFill>
                    </a:lnR>
                    <a:lnT w="6350">
                      <a:solidFill>
                        <a:srgbClr val="B8C7CC"/>
                      </a:solidFill>
                    </a:lnT>
                    <a:lnB w="6350">
                      <a:solidFill>
                        <a:srgbClr val="B8C7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ummary 31"/>
          <p:cNvSpPr/>
          <p:nvPr/>
        </p:nvSpPr>
        <p:spPr>
          <a:xfrm>
            <a:off x="420000" y="5750000"/>
            <a:ext cx="11350000" cy="7000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 w="9525">
            <a:solidFill>
              <a:srgbClr val="B8C7CC"/>
            </a:solidFill>
          </a:ln>
        </p:spPr>
        <p:txBody>
          <a:bodyPr wrap="square" anchor="ctr" lIns="130000" rIns="130000" tIns="130000" bIns="13000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367888"/>
                </a:solidFill>
                <a:latin typeface="Times New Roman"/>
              </a:rPr>
              <a:t>Models: </a:t>
            </a:r>
            <a:r>
              <a:rPr lang="en-US" sz="1200" b="0" i="0">
                <a:solidFill>
                  <a:srgbClr val="222222"/>
                </a:solidFill>
                <a:latin typeface="Times New Roman"/>
              </a:rPr>
              <a:t>Linear Regression and Random Forest (optional LSTM comparison), trained on a 60/20/20 time-ordered split.   </a:t>
            </a:r>
            <a:r>
              <a:rPr lang="en-US" sz="1200" b="1" i="0">
                <a:solidFill>
                  <a:srgbClr val="367888"/>
                </a:solidFill>
                <a:latin typeface="Times New Roman"/>
              </a:rPr>
              <a:t>Metrics: </a:t>
            </a:r>
            <a:r>
              <a:rPr lang="en-US" sz="1200" b="0" i="0">
                <a:solidFill>
                  <a:srgbClr val="222222"/>
                </a:solidFill>
                <a:latin typeface="Times New Roman"/>
              </a:rPr>
              <a:t>RMSE, MAE, R2, ranking match, System Usability Scale.   </a:t>
            </a:r>
            <a:r>
              <a:rPr lang="en-US" sz="1200" b="1" i="0">
                <a:solidFill>
                  <a:srgbClr val="367888"/>
                </a:solidFill>
                <a:latin typeface="Times New Roman"/>
              </a:rPr>
              <a:t>Fallback: </a:t>
            </a:r>
            <a:r>
              <a:rPr lang="en-US" sz="1200" b="0" i="0">
                <a:solidFill>
                  <a:srgbClr val="222222"/>
                </a:solidFill>
                <a:latin typeface="Times New Roman"/>
              </a:rPr>
              <a:t>if D3 access is not granted, D1 patterns and D2 trip times estimate the corridor state.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106" y="138036"/>
            <a:ext cx="8300000" cy="563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Pilot Data Collection and Privacy Plan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0000" y="1000000"/>
            <a:ext cx="2620000" cy="12500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3000" b="1" i="0">
                <a:solidFill>
                  <a:srgbClr val="367888"/>
                </a:solidFill>
                <a:latin typeface="Times New Roman"/>
              </a:rPr>
              <a:t>1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pilot corridor (Bengaluru)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0000" y="1000000"/>
            <a:ext cx="2620000" cy="12500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3000" b="1" i="0">
                <a:solidFill>
                  <a:srgbClr val="367888"/>
                </a:solidFill>
                <a:latin typeface="Times New Roman"/>
              </a:rPr>
              <a:t>3–5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connected junctions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1000000"/>
            <a:ext cx="2620000" cy="12500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3000" b="1" i="0">
                <a:solidFill>
                  <a:srgbClr val="367888"/>
                </a:solidFill>
                <a:latin typeface="Times New Roman"/>
              </a:rPr>
              <a:t>30–50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volunteer commuters (target)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0" y="1000000"/>
            <a:ext cx="2620000" cy="12500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30000" bIns="30000"/>
          <a:lstStyle/>
          <a:p>
            <a:pPr algn="ctr"/>
            <a:r>
              <a:rPr sz="3000" b="1" i="0">
                <a:solidFill>
                  <a:srgbClr val="367888"/>
                </a:solidFill>
                <a:latin typeface="Times New Roman"/>
              </a:rPr>
              <a:t>1 month</a:t>
            </a:r>
          </a:p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pilot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2500000"/>
            <a:ext cx="5450000" cy="3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2560000"/>
            <a:ext cx="52500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5314F"/>
                </a:solidFill>
                <a:latin typeface="Times New Roman"/>
              </a:rPr>
              <a:t>Collection 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2950000"/>
            <a:ext cx="5250000" cy="2900000"/>
          </a:xfrm>
          <a:prstGeom prst="rect">
            <a:avLst/>
          </a:prstGeom>
          <a:noFill/>
        </p:spPr>
        <p:txBody>
          <a:bodyPr wrap="square" anchor="t" lIns="110000" rIns="110000" tIns="70000">
            <a:spAutoFit/>
          </a:bodyPr>
          <a:lstStyle/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1" i="0">
                <a:solidFill>
                  <a:srgbClr val="222222"/>
                </a:solidFill>
                <a:latin typeface="Times New Roman"/>
              </a:rPr>
              <a:t>Recruit: 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volunteers who travel the corridor daily.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1" i="0">
                <a:solidFill>
                  <a:srgbClr val="222222"/>
                </a:solidFill>
                <a:latin typeface="Times New Roman"/>
              </a:rPr>
              <a:t>Consent: 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show the privacy notice and record consent before the first trip.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1" i="0">
                <a:solidFill>
                  <a:srgbClr val="222222"/>
                </a:solidFill>
                <a:latin typeface="Times New Roman"/>
              </a:rPr>
              <a:t>Log: 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volunteers enter each trip in the app; sensor data is read automatically.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1" i="0">
                <a:solidFill>
                  <a:srgbClr val="222222"/>
                </a:solidFill>
                <a:latin typeface="Times New Roman"/>
              </a:rPr>
              <a:t>Review: </a:t>
            </a:r>
            <a:r>
              <a:rPr sz="1500" b="0" i="0">
                <a:solidFill>
                  <a:srgbClr val="222222"/>
                </a:solidFill>
                <a:latin typeface="Times New Roman"/>
              </a:rPr>
              <a:t>check data quality weekly and export the anonymous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0000" y="2500000"/>
            <a:ext cx="5450000" cy="3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0000" y="2560000"/>
            <a:ext cx="52500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5314F"/>
                </a:solidFill>
                <a:latin typeface="Times New Roman"/>
              </a:rPr>
              <a:t>Privacy safeguards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0000" y="2950000"/>
            <a:ext cx="5250000" cy="2900000"/>
          </a:xfrm>
          <a:prstGeom prst="rect">
            <a:avLst/>
          </a:prstGeom>
          <a:noFill/>
        </p:spPr>
        <p:txBody>
          <a:bodyPr wrap="square" anchor="t" lIns="110000" rIns="110000" tIns="70000">
            <a:spAutoFit/>
          </a:bodyPr>
          <a:lstStyle/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Random user ID; no name, phone number or home address is stored.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Trip start and end are rounded to road sections, not exact locations.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Corridor dashboard shows only groups of at least 5 trips.</a:t>
            </a:r>
          </a:p>
          <a:p>
            <a:pPr algn="l" marL="228600" indent="-22860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All values are labelled as estimates; users can withdraw and delete their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r>
              <a:t>Hardware &amp; Computational Specifications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46000" y="1550000"/>
            <a:ext cx="3300000" cy="1300000"/>
          </a:xfrm>
          <a:prstGeom prst="roundRect">
            <a:avLst>
              <a:gd name="adj" fmla="val 10000"/>
            </a:avLst>
          </a:prstGeom>
          <a:solidFill>
            <a:srgbClr val="E9EBF1"/>
          </a:solidFill>
          <a:ln w="15875">
            <a:solidFill>
              <a:srgbClr val="25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Development &amp; Training Workstation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Multi-core CPU (Apple Silicon M-Series / Intel Core i7 2.4GHz+), 8GB+ LPDDR5 RAM, 256GB NVMe SSD for model training, graph compilation, and local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3750000"/>
            <a:ext cx="3300000" cy="13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Edge Telemetry Stream &amp; Sensing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Simulated loop detector / CCTV camera telemetry generator streaming 288 temporal epochs/day (vehicle count, speed, occupancy, and quality flags).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6000" y="3750000"/>
            <a:ext cx="3300000" cy="1300000"/>
          </a:xfrm>
          <a:prstGeom prst="roundRect">
            <a:avLst>
              <a:gd name="adj" fmla="val 10000"/>
            </a:avLst>
          </a:prstGeom>
          <a:solidFill>
            <a:srgbClr val="E9EBF1"/>
          </a:solidFill>
          <a:ln w="15875">
            <a:solidFill>
              <a:srgbClr val="25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Production Cloud Server &amp; Database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Node.js v20+ execution environment on cloud infrastructure; Neon Serverless PostgreSQL cluster with connection pooling and SSL termination.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42000" y="3750000"/>
            <a:ext cx="3300000" cy="13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End-User Client Hardware</a:t>
            </a:r>
          </a:p>
          <a:p>
            <a:pPr>
              <a:lnSpc>
                <a:spcPct val="115000"/>
              </a:lnSpc>
              <a:defRPr sz="1350" b="0">
                <a:latin typeface="Times New Roman"/>
              </a:defRPr>
            </a:pPr>
            <a:r>
              <a:t>Responsive client hardware (Desktop, Laptop, iOS/Android mobile browsers) supporting WebGL/Canvas hardware acceleration and HTML5 Geolocation.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850000"/>
            <a:ext cx="0" cy="90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50000" y="4400000"/>
            <a:ext cx="696000" cy="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46000" y="4400000"/>
            <a:ext cx="696000" cy="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Frontend Presentation Tier: Modern HTML5, CSS3 Grid/Flexbox with hardware-accelerated animations, and Vanilla ES6+ JavaScript modular architecture.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Geospatial Engine: Leaflet.js v1.9.4 with Esri ArcGIS World Street Map, World Dark Gray Canvas, and World Imagery raster tile layers (zero API key watermarks, zero 403 blocks).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Backend Application Tier: Node.js asynchronous event loop, Express.js REST framework, Helmet security headers, CORS middleware, Express Rate Limiter, and Dotenv config.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Database &amp; Persistence Tier: Neon Serverless PostgreSQL (Cloud AWS us-east-2), Connection Pooler (pg library, SSL mode verify-full), fallback in-memory session store.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Machine Learning &amp; Analytics: Python 3.10 / Scikit-learn (Random Forest Regressor, Linear Regression, CNN/LSTM benchmarks), 60/20/20 chronological train/val/test split.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External Telemetry &amp; APIs: OpenStreetMap Nominatim Geocoding API, OpenWeatherMap 2.5 API, Open Data Road Network GeoJSON.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Software Architecture &amp; Technology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</a:rPr>
              <a:t>Process / Flow / Design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96000" y="105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Log in and select the corridor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0" y="152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96000" y="170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Enter trip details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17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96000" y="235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Estimate traffic and travel time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282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6000" y="300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Show the personal 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47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96000" y="365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25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Find the busiest section and give a suggestion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412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96000" y="430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25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Compare another route or start 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477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96000" y="495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25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Combine all trips without personal details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5420000"/>
            <a:ext cx="0" cy="180000"/>
          </a:xfrm>
          <a:prstGeom prst="line">
            <a:avLst/>
          </a:prstGeom>
          <a:ln w="19050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96000" y="5600000"/>
            <a:ext cx="5200000" cy="470000"/>
          </a:xfrm>
          <a:prstGeom prst="roundRect">
            <a:avLst>
              <a:gd name="adj" fmla="val 12000"/>
            </a:avLst>
          </a:prstGeom>
          <a:solidFill>
            <a:srgbClr val="25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Show corridor progress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6E309F-C0C0-461F-47BE-639DBB05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System Architecture: High-Level Data &amp; Control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85754-AC3A-FA03-E371-3E5E91A53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1BF69C-5A0E-BD85-616F-494B1D8F3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00" y="5950000"/>
            <a:ext cx="11200000" cy="42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1300">
                <a:latin typeface="Times New Roman"/>
              </a:defRPr>
            </a:pPr>
            <a:r>
              <a:t>Figure: Multi-tiered client-server architecture illustrating heterogeneous data ingestion, analytical pipeline execution, and role-based presentation 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1250000"/>
            <a:ext cx="3300000" cy="62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Heterogeneous Ingestion (D1–D4)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2565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Trip parameters: O-D pairs, departure epoch, transport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00" y="3515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Sensor telemetry (D3) &amp; historical Kaggle baseline (D1)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" y="4465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OSM road graph vectors &amp; micro-weather coefficients (D4)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80000" y="3915000"/>
            <a:ext cx="386000" cy="0"/>
          </a:xfrm>
          <a:prstGeom prst="line">
            <a:avLst/>
          </a:prstGeom>
          <a:ln w="28575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46000" y="1250000"/>
            <a:ext cx="3300000" cy="620000"/>
          </a:xfrm>
          <a:prstGeom prst="roundRect">
            <a:avLst>
              <a:gd name="adj" fmla="val 12000"/>
            </a:avLst>
          </a:prstGeom>
          <a:solidFill>
            <a:srgbClr val="25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Analytical &amp; Algorithmic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6000" y="209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9EBF1"/>
          </a:solidFill>
          <a:ln w="15875">
            <a:solidFill>
              <a:srgbClr val="25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Multi-source Travel Time Index (TTI) dynamic calculation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6000" y="304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9EBF1"/>
          </a:solidFill>
          <a:ln w="15875">
            <a:solidFill>
              <a:srgbClr val="25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Critical bottleneck edge localization (max delay delta)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6000" y="399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9EBF1"/>
          </a:solidFill>
          <a:ln w="15875">
            <a:solidFill>
              <a:srgbClr val="25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Spill-over capacity verification (C_spill &lt;= 75%)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6000" y="494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9EBF1"/>
          </a:solidFill>
          <a:ln w="15875">
            <a:solidFill>
              <a:srgbClr val="25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Differential k-anonymity aggregation (k &gt;= 5)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6000" y="3915000"/>
            <a:ext cx="386000" cy="0"/>
          </a:xfrm>
          <a:prstGeom prst="line">
            <a:avLst/>
          </a:prstGeom>
          <a:ln w="28575">
            <a:solidFill>
              <a:srgbClr val="2531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92000" y="1250000"/>
            <a:ext cx="3300000" cy="620000"/>
          </a:xfrm>
          <a:prstGeom prst="roundRect">
            <a:avLst>
              <a:gd name="adj" fmla="val 12000"/>
            </a:avLst>
          </a:prstGeom>
          <a:solidFill>
            <a:srgbClr val="367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Presentation Tier (Outputs)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2000" y="209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Personal route diagnostic dashboard with KPI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2000" y="304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Capacity-verified travel suggestions &amp; mode advice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2000" y="399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Multi-scenario what-if comparison simulation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2000" y="4940000"/>
            <a:ext cx="3300000" cy="80000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875">
            <a:solidFill>
              <a:srgbClr val="367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>
              <a:lnSpc>
                <a:spcPct val="100000"/>
              </a:lnSpc>
              <a:defRPr sz="1200" b="0">
                <a:latin typeface="Times New Roman"/>
              </a:defRPr>
            </a:pPr>
            <a:r>
              <a:t>Macro-corridor heatmap &amp; city congestion profile (D5)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Spatial Graph &amp; Route Planning Module: Topologically models 80 nodes and 17 corridors; computes Dijkstra dynamic shortest paths and candidate alternatives.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Multi-Source Telemetry Fusion Module: Ingests and synchronizes D1 (historical baseline), D2 (probe inputs), D3 (5-min telemetry slots), and D4 (micro-weather).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Algorithmic Estimation &amp; Diagnosis Module: Calculates segment-wise TTI, free-flow deltas, speed decay, and pinpoints root-cause bottleneck edges.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Spill-Over Constrained Guidance Module: Evaluates candidate departure times (±15 to ±90 min) and routes, suppressing diversions with secondary link congestion &gt; 75%.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Macro Corridor Dashboard Module: Compiles city-wide congestion indices, hourly delay profiles, and interactive matrix heatmaps across all 17 corridors.</a:t>
            </a:r>
          </a:p>
          <a:p>
            <a:pPr>
              <a:lnSpc>
                <a:spcPct val="118000"/>
              </a:lnSpc>
              <a:defRPr sz="1400" b="0">
                <a:latin typeface="Times New Roman"/>
              </a:defRPr>
            </a:pPr>
            <a:r>
              <a:t>• Differential Privacy &amp; Storage Module: Manages Express REST routing and PostgreSQL pooling, enforcing k-anonymity (k &gt;= 5) on all persisted trip records.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r>
              <a:t>Core Modular 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</a:rPr>
              <a:t>Working Prototype: Live 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  <p:pic>
        <p:nvPicPr>
          <p:cNvPr id="20" name="Prototype screenshot 1" descr="Prototype screenshot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00000"/>
            <a:ext cx="5200000" cy="3250000"/>
          </a:xfrm>
          <a:prstGeom prst="rect">
            <a:avLst/>
          </a:prstGeom>
          <a:ln w="9525">
            <a:solidFill>
              <a:srgbClr val="C9D6DC"/>
            </a:solidFill>
          </a:ln>
        </p:spPr>
      </p:pic>
      <p:pic>
        <p:nvPicPr>
          <p:cNvPr id="21" name="Prototype screenshot 2" descr="Prototype screenshot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450000"/>
            <a:ext cx="5200000" cy="1493016"/>
          </a:xfrm>
          <a:prstGeom prst="rect">
            <a:avLst/>
          </a:prstGeom>
          <a:ln w="9525">
            <a:solidFill>
              <a:srgbClr val="C9D6DC"/>
            </a:solidFill>
          </a:ln>
        </p:spPr>
      </p:pic>
      <p:sp>
        <p:nvSpPr>
          <p:cNvPr id="40" name="Demo notes"/>
          <p:cNvSpPr/>
          <p:nvPr/>
        </p:nvSpPr>
        <p:spPr>
          <a:xfrm>
            <a:off x="6100000" y="1100000"/>
            <a:ext cx="5480000" cy="4843016"/>
          </a:xfrm>
          <a:prstGeom prst="roundRect">
            <a:avLst>
              <a:gd name="adj" fmla="val 4000"/>
            </a:avLst>
          </a:prstGeom>
          <a:solidFill>
            <a:srgbClr val="E6F1F4"/>
          </a:solidFill>
          <a:ln w="9525">
            <a:solidFill>
              <a:srgbClr val="BCD9E0"/>
            </a:solidFill>
          </a:ln>
        </p:spPr>
        <p:txBody>
          <a:bodyPr wrap="square" lIns="164592" tIns="118872" rIns="164592" bIns="9144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16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How the demo works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1  Input.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Any source and destination in Bengaluru, with time, mode and weather.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2  Route.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A road graph of 80 places and 17 corridors gives the fastest route and an alternate.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3  Estimate.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D1 baseline, D3 live slot and D4 weather give speed and time for each section.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4  Diagnose.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The worst section is marked on the map, with its reason.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5  Guide.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One suggestion appears after the nearby-road check; options are compared.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6  Summarise.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Saved trips join the anonymous dashboard (groups of 5 or more only).</a:t>
            </a:r>
          </a:p>
        </p:txBody>
      </p:sp>
      <p:sp>
        <p:nvSpPr>
          <p:cNvPr id="41" name="Caption"/>
          <p:cNvSpPr txBox="1"/>
          <p:nvPr/>
        </p:nvSpPr>
        <p:spPr>
          <a:xfrm>
            <a:off x="609600" y="6013016"/>
            <a:ext cx="10972800" cy="3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1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Figure: Working prototype (metromind.html), Whitefield to Electronic City at 08:30. The demo covers any place in Bengaluru; the pilot evaluation is limited to one corridor. Sample values, all estimates.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</a:rPr>
              <a:t>Dashboard: City Profile and Heatmap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  <p:pic>
        <p:nvPicPr>
          <p:cNvPr id="20" name="City profile chart" descr="City congestion by hour, bars coloured by delay intensity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100000"/>
            <a:ext cx="5200000" cy="2678000"/>
          </a:xfrm>
          <a:prstGeom prst="rect">
            <a:avLst/>
          </a:prstGeom>
          <a:ln w="9525">
            <a:solidFill>
              <a:srgbClr val="C9D6DC"/>
            </a:solidFill>
          </a:ln>
        </p:spPr>
      </p:pic>
      <p:pic>
        <p:nvPicPr>
          <p:cNvPr id="21" name="Corridor heatmap" descr="Average delay per section by hour (anonymous summary D5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878000"/>
            <a:ext cx="5200000" cy="1670500"/>
          </a:xfrm>
          <a:prstGeom prst="rect">
            <a:avLst/>
          </a:prstGeom>
          <a:ln w="9525">
            <a:solidFill>
              <a:srgbClr val="C9D6DC"/>
            </a:solidFill>
          </a:ln>
        </p:spPr>
      </p:pic>
      <p:sp>
        <p:nvSpPr>
          <p:cNvPr id="40" name="Demo notes"/>
          <p:cNvSpPr/>
          <p:nvPr/>
        </p:nvSpPr>
        <p:spPr>
          <a:xfrm>
            <a:off x="6100000" y="1100000"/>
            <a:ext cx="5480000" cy="4448500"/>
          </a:xfrm>
          <a:prstGeom prst="roundRect">
            <a:avLst>
              <a:gd name="adj" fmla="val 4000"/>
            </a:avLst>
          </a:prstGeom>
          <a:solidFill>
            <a:srgbClr val="E6F1F4"/>
          </a:solidFill>
          <a:ln w="9525">
            <a:solidFill>
              <a:srgbClr val="BCD9E0"/>
            </a:solidFill>
          </a:ln>
        </p:spPr>
        <p:txBody>
          <a:bodyPr wrap="square" lIns="164592" tIns="118872" rIns="164592" bIns="9144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16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What the dashboard shows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1  City profile.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Average congestion of the 17 corridors for every hour. Bar colour shows delay intensity: green, yellow, orange, red.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2  Peak hours.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On a weekday the city peaks at 08:00 to 09:00 (87%) and 18:00 to 19:00 (86%); midday stays near 28%.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3  Day type.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A Weekday / Weekend switch redraws the chart; the current IST hour is outlined.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4  Heatmap.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Average delay per road section for each corridor and hour (D5).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5  Privacy rule.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Cells with fewer than 5 contributing trips are hidden.</a:t>
            </a:r>
          </a:p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6  Use. </a:t>
            </a:r>
            <a:r>
              <a:rPr lang="en-US" sz="14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Traffic teams see the busiest hours and corridors; commuters can pick a quieter time to travel.</a:t>
            </a:r>
          </a:p>
        </p:txBody>
      </p:sp>
      <p:sp>
        <p:nvSpPr>
          <p:cNvPr id="41" name="Caption"/>
          <p:cNvSpPr txBox="1"/>
          <p:nvPr/>
        </p:nvSpPr>
        <p:spPr>
          <a:xfrm>
            <a:off x="609600" y="5668500"/>
            <a:ext cx="10972800" cy="3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1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>Figure: Corridor Dashboard tab of the prototype (metromind.html), weekday view, clear weather. Sample values patterned on D1; all values are estimates.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Full-Stack Architecture: Frontend, Backend &amp;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  <p:sp>
        <p:nvSpPr>
          <p:cNvPr id="51" name="Header 51"/>
          <p:cNvSpPr/>
          <p:nvPr/>
        </p:nvSpPr>
        <p:spPr>
          <a:xfrm>
            <a:off x="609600" y="1100000"/>
            <a:ext cx="3100000" cy="480000"/>
          </a:xfrm>
          <a:prstGeom prst="rect">
            <a:avLst/>
          </a:prstGeom>
          <a:solidFill>
            <a:srgbClr val="2E7A8C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r>
              <a:t>FRONTEND TIER</a:t>
            </a:r>
          </a:p>
        </p:txBody>
      </p:sp>
      <p:sp>
        <p:nvSpPr>
          <p:cNvPr id="52" name="Body 52"/>
          <p:cNvSpPr/>
          <p:nvPr/>
        </p:nvSpPr>
        <p:spPr>
          <a:xfrm>
            <a:off x="609600" y="1580000"/>
            <a:ext cx="3100000" cy="3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A8C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Presentation &amp; Client Logic (ES6+ / Leaflet)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Geocoding Autocomplete with OpenStreetMap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Temporal, Modal &amp; Meteorological Input Form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Leaflet.js with Esri ArcGIS HD Basemaps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Dynamic SVG Congestion Polylines &amp; KPIs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Hourly City Congestion Profile &amp; Heatmap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Client-Side Consent Checkbox for D2 Logging</a:t>
            </a:r>
          </a:p>
        </p:txBody>
      </p:sp>
      <p:sp>
        <p:nvSpPr>
          <p:cNvPr id="53" name="Request arrow 53"/>
          <p:cNvSpPr/>
          <p:nvPr/>
        </p:nvSpPr>
        <p:spPr>
          <a:xfrm>
            <a:off x="3829600" y="2480000"/>
            <a:ext cx="595000" cy="420000"/>
          </a:xfrm>
          <a:prstGeom prst="rightArrow">
            <a:avLst/>
          </a:prstGeom>
          <a:solidFill>
            <a:srgbClr val="2E7A8C"/>
          </a:solidFill>
          <a:ln>
            <a:noFill/>
          </a:ln>
        </p:spPr>
        <p:txBody>
          <a:bodyPr wrap="square" lIns="109728" tIns="73152" rIns="109728" bIns="73152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4" name="Response arrow 54"/>
          <p:cNvSpPr/>
          <p:nvPr/>
        </p:nvSpPr>
        <p:spPr>
          <a:xfrm>
            <a:off x="3829600" y="3080000"/>
            <a:ext cx="595000" cy="420000"/>
          </a:xfrm>
          <a:prstGeom prst="leftArrow">
            <a:avLst/>
          </a:prstGeom>
          <a:solidFill>
            <a:srgbClr val="9CB8C0"/>
          </a:solidFill>
          <a:ln>
            <a:noFill/>
          </a:ln>
        </p:spPr>
        <p:txBody>
          <a:bodyPr wrap="square" lIns="109728" tIns="73152" rIns="109728" bIns="73152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5" name="Header 55"/>
          <p:cNvSpPr/>
          <p:nvPr/>
        </p:nvSpPr>
        <p:spPr>
          <a:xfrm>
            <a:off x="4544600" y="1100000"/>
            <a:ext cx="3100000" cy="480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r>
              <a:t>BACKEND API TIER</a:t>
            </a:r>
          </a:p>
        </p:txBody>
      </p:sp>
      <p:sp>
        <p:nvSpPr>
          <p:cNvPr id="56" name="Body 56"/>
          <p:cNvSpPr/>
          <p:nvPr/>
        </p:nvSpPr>
        <p:spPr>
          <a:xfrm>
            <a:off x="4544600" y="1580000"/>
            <a:ext cx="3100000" cy="3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Node.js &amp; Express REST Services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Express REST Microservices (/api/trips, /api/health)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Dynamic Dijkstra Graph Traversal (80 Nodes)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Multi-Variable TTI Calculation (65/35 Live Fusion)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Spill-Over Verification Algorithm (Cap &lt;= 75%)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Rate Limiting, Helmet Security, CORS Handler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Resilient Session Fallback on DB Dropout</a:t>
            </a:r>
          </a:p>
        </p:txBody>
      </p:sp>
      <p:sp>
        <p:nvSpPr>
          <p:cNvPr id="57" name="Request arrow 57"/>
          <p:cNvSpPr/>
          <p:nvPr/>
        </p:nvSpPr>
        <p:spPr>
          <a:xfrm>
            <a:off x="7764600" y="2480000"/>
            <a:ext cx="595000" cy="420000"/>
          </a:xfrm>
          <a:prstGeom prst="rightArrow">
            <a:avLst/>
          </a:prstGeom>
          <a:solidFill>
            <a:srgbClr val="2E7A8C"/>
          </a:solidFill>
          <a:ln>
            <a:noFill/>
          </a:ln>
        </p:spPr>
        <p:txBody>
          <a:bodyPr wrap="square" lIns="109728" tIns="73152" rIns="109728" bIns="73152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8" name="Response arrow 58"/>
          <p:cNvSpPr/>
          <p:nvPr/>
        </p:nvSpPr>
        <p:spPr>
          <a:xfrm>
            <a:off x="7764600" y="3080000"/>
            <a:ext cx="595000" cy="420000"/>
          </a:xfrm>
          <a:prstGeom prst="leftArrow">
            <a:avLst/>
          </a:prstGeom>
          <a:solidFill>
            <a:srgbClr val="9CB8C0"/>
          </a:solidFill>
          <a:ln>
            <a:noFill/>
          </a:ln>
        </p:spPr>
        <p:txBody>
          <a:bodyPr wrap="square" lIns="109728" tIns="73152" rIns="109728" bIns="73152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1F2A4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9" name="Header 59"/>
          <p:cNvSpPr/>
          <p:nvPr/>
        </p:nvSpPr>
        <p:spPr>
          <a:xfrm>
            <a:off x="8479600" y="1100000"/>
            <a:ext cx="3100000" cy="480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r>
              <a:t>DATABASE &amp; DATA TIER</a:t>
            </a:r>
          </a:p>
        </p:txBody>
      </p:sp>
      <p:sp>
        <p:nvSpPr>
          <p:cNvPr id="60" name="Body 60"/>
          <p:cNvSpPr/>
          <p:nvPr/>
        </p:nvSpPr>
        <p:spPr>
          <a:xfrm>
            <a:off x="8479600" y="1580000"/>
            <a:ext cx="3100000" cy="3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572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Neon Serverless PostgreSQL (Cloud)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D1: Kaggle Bangalore Traffic (16,705 records)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D2: Relational trips table (UUID-indexed)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D3: Live 5-minute Sensor Telemetry Slot Feed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D4: Road Graph GeoJSON &amp; OpenWeather Telemetry</a:t>
            </a:r>
          </a:p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• D5: Aggregated Corridor Summary (k &gt;= 5)</a:t>
            </a:r>
          </a:p>
        </p:txBody>
      </p:sp>
      <p:sp>
        <p:nvSpPr>
          <p:cNvPr id="61" name="Note 61"/>
          <p:cNvSpPr/>
          <p:nvPr/>
        </p:nvSpPr>
        <p:spPr>
          <a:xfrm>
            <a:off x="609600" y="5080000"/>
            <a:ext cx="10972800" cy="820000"/>
          </a:xfrm>
          <a:prstGeom prst="roundRect">
            <a:avLst/>
          </a:prstGeom>
          <a:solidFill>
            <a:srgbClr val="E6F1F4"/>
          </a:solidFill>
          <a:ln w="12700">
            <a:solidFill>
              <a:srgbClr val="BCD9E0"/>
            </a:solidFill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200" b="0">
                <a:latin typeface="Times New Roman"/>
              </a:defRPr>
            </a:pPr>
            <a:r>
              <a:t>Client-Server REST Communication: Frontend dispatches JSON payloads to Express endpoints. Trips are persisted asynchronously to Neon Cloud PostgreSQL with SSL pooling.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End-to-End Execution Pipeline (Click to Result)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  <p:sp>
        <p:nvSpPr>
          <p:cNvPr id="62" name="Step header 62"/>
          <p:cNvSpPr/>
          <p:nvPr/>
        </p:nvSpPr>
        <p:spPr>
          <a:xfrm>
            <a:off x="609600" y="1100000"/>
            <a:ext cx="3500000" cy="420000"/>
          </a:xfrm>
          <a:prstGeom prst="rect">
            <a:avLst/>
          </a:prstGeom>
          <a:solidFill>
            <a:srgbClr val="2E7A8C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1">
                <a:latin typeface="Times New Roman"/>
              </a:defRPr>
            </a:pPr>
            <a:r>
              <a:t>1  Client Ingestion</a:t>
            </a:r>
          </a:p>
        </p:txBody>
      </p:sp>
      <p:sp>
        <p:nvSpPr>
          <p:cNvPr id="63" name="Step body 63"/>
          <p:cNvSpPr/>
          <p:nvPr/>
        </p:nvSpPr>
        <p:spPr>
          <a:xfrm>
            <a:off x="609600" y="1520000"/>
            <a:ext cx="350000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A8C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5000"/>
              </a:lnSpc>
              <a:defRPr sz="1100" b="0">
                <a:latin typeface="Times New Roman"/>
              </a:defRPr>
            </a:pPr>
            <a:r>
              <a:t>Origin/Destination, departure time, mode, and weather validated against graph nodes; spatial coordinates resolved.</a:t>
            </a:r>
          </a:p>
        </p:txBody>
      </p:sp>
      <p:sp>
        <p:nvSpPr>
          <p:cNvPr id="64" name="Step header 64"/>
          <p:cNvSpPr/>
          <p:nvPr/>
        </p:nvSpPr>
        <p:spPr>
          <a:xfrm>
            <a:off x="4345600" y="1100000"/>
            <a:ext cx="3500000" cy="420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1">
                <a:latin typeface="Times New Roman"/>
              </a:defRPr>
            </a:pPr>
            <a:r>
              <a:t>2  Graph Routing</a:t>
            </a:r>
          </a:p>
        </p:txBody>
      </p:sp>
      <p:sp>
        <p:nvSpPr>
          <p:cNvPr id="65" name="Step body 65"/>
          <p:cNvSpPr/>
          <p:nvPr/>
        </p:nvSpPr>
        <p:spPr>
          <a:xfrm>
            <a:off x="4345600" y="1520000"/>
            <a:ext cx="350000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5000"/>
              </a:lnSpc>
              <a:defRPr sz="1100" b="0">
                <a:latin typeface="Times New Roman"/>
              </a:defRPr>
            </a:pPr>
            <a:r>
              <a:t>Dijkstra dynamic shortest-path traversal searches the 80-node, 17-corridor graph to compute primary and alternate paths.</a:t>
            </a:r>
          </a:p>
        </p:txBody>
      </p:sp>
      <p:sp>
        <p:nvSpPr>
          <p:cNvPr id="66" name="Step header 66"/>
          <p:cNvSpPr/>
          <p:nvPr/>
        </p:nvSpPr>
        <p:spPr>
          <a:xfrm>
            <a:off x="8081600" y="1100000"/>
            <a:ext cx="3500000" cy="420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1">
                <a:latin typeface="Times New Roman"/>
              </a:defRPr>
            </a:pPr>
            <a:r>
              <a:t>3  TTI Estimation</a:t>
            </a:r>
          </a:p>
        </p:txBody>
      </p:sp>
      <p:sp>
        <p:nvSpPr>
          <p:cNvPr id="67" name="Step body 67"/>
          <p:cNvSpPr/>
          <p:nvPr/>
        </p:nvSpPr>
        <p:spPr>
          <a:xfrm>
            <a:off x="8081600" y="1520000"/>
            <a:ext cx="350000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5000"/>
              </a:lnSpc>
              <a:defRPr sz="1100" b="0">
                <a:latin typeface="Times New Roman"/>
              </a:defRPr>
            </a:pPr>
            <a:r>
              <a:t>Computes segment speed v_e(t) = v_free / TTI_e(t) via 65/35 live sensor fusion and weather dampening coefficients.</a:t>
            </a:r>
          </a:p>
        </p:txBody>
      </p:sp>
      <p:sp>
        <p:nvSpPr>
          <p:cNvPr id="68" name="Step header 68"/>
          <p:cNvSpPr/>
          <p:nvPr/>
        </p:nvSpPr>
        <p:spPr>
          <a:xfrm>
            <a:off x="609600" y="3236000"/>
            <a:ext cx="3500000" cy="420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1">
                <a:latin typeface="Times New Roman"/>
              </a:defRPr>
            </a:pPr>
            <a:r>
              <a:t>4  Bottleneck Diagnosis</a:t>
            </a:r>
          </a:p>
        </p:txBody>
      </p:sp>
      <p:sp>
        <p:nvSpPr>
          <p:cNvPr id="69" name="Step body 69"/>
          <p:cNvSpPr/>
          <p:nvPr/>
        </p:nvSpPr>
        <p:spPr>
          <a:xfrm>
            <a:off x="609600" y="3656000"/>
            <a:ext cx="350000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5000"/>
              </a:lnSpc>
              <a:defRPr sz="1100" b="0">
                <a:latin typeface="Times New Roman"/>
              </a:defRPr>
            </a:pPr>
            <a:r>
              <a:t>Identifies edge e* maximizing delay (tau_e - tau_free); checks secondary link capacity for candidate detours (Cap &lt;= 75%).</a:t>
            </a:r>
          </a:p>
        </p:txBody>
      </p:sp>
      <p:sp>
        <p:nvSpPr>
          <p:cNvPr id="70" name="Step header 70"/>
          <p:cNvSpPr/>
          <p:nvPr/>
        </p:nvSpPr>
        <p:spPr>
          <a:xfrm>
            <a:off x="4345600" y="3236000"/>
            <a:ext cx="3500000" cy="420000"/>
          </a:xfrm>
          <a:prstGeom prst="rect">
            <a:avLst/>
          </a:prstGeom>
          <a:solidFill>
            <a:srgbClr val="2E7A8C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1">
                <a:latin typeface="Times New Roman"/>
              </a:defRPr>
            </a:pPr>
            <a:r>
              <a:t>5  Map Rendering</a:t>
            </a:r>
          </a:p>
        </p:txBody>
      </p:sp>
      <p:sp>
        <p:nvSpPr>
          <p:cNvPr id="71" name="Step body 71"/>
          <p:cNvSpPr/>
          <p:nvPr/>
        </p:nvSpPr>
        <p:spPr>
          <a:xfrm>
            <a:off x="4345600" y="3656000"/>
            <a:ext cx="350000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A8C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5000"/>
              </a:lnSpc>
              <a:defRPr sz="1100" b="0">
                <a:latin typeface="Times New Roman"/>
              </a:defRPr>
            </a:pPr>
            <a:r>
              <a:t>Renders Esri ArcGIS vector map with congestion-coded polylines, animated vehicle tracers, KPI cards, and charts.</a:t>
            </a:r>
          </a:p>
        </p:txBody>
      </p:sp>
      <p:sp>
        <p:nvSpPr>
          <p:cNvPr id="72" name="Step header 72"/>
          <p:cNvSpPr/>
          <p:nvPr/>
        </p:nvSpPr>
        <p:spPr>
          <a:xfrm>
            <a:off x="8081600" y="3236000"/>
            <a:ext cx="3500000" cy="420000"/>
          </a:xfrm>
          <a:prstGeom prst="rect">
            <a:avLst/>
          </a:prstGeom>
          <a:solidFill>
            <a:srgbClr val="2E7A8C"/>
          </a:solidFill>
          <a:ln>
            <a:noFill/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1">
                <a:latin typeface="Times New Roman"/>
              </a:defRPr>
            </a:pPr>
            <a:r>
              <a:t>6  Cloud Persistence</a:t>
            </a:r>
          </a:p>
        </p:txBody>
      </p:sp>
      <p:sp>
        <p:nvSpPr>
          <p:cNvPr id="73" name="Step body 73"/>
          <p:cNvSpPr/>
          <p:nvPr/>
        </p:nvSpPr>
        <p:spPr>
          <a:xfrm>
            <a:off x="8081600" y="3656000"/>
            <a:ext cx="350000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A8C"/>
            </a:solidFill>
          </a:ln>
        </p:spPr>
        <p:txBody>
          <a:bodyPr wrap="square" lIns="109728" tIns="73152" rIns="109728" bIns="73152" anchor="t">
            <a:noAutofit/>
          </a:bodyPr>
          <a:lstStyle/>
          <a:p>
            <a:pPr>
              <a:lnSpc>
                <a:spcPct val="115000"/>
              </a:lnSpc>
              <a:defRPr sz="1100" b="0">
                <a:latin typeface="Times New Roman"/>
              </a:defRPr>
            </a:pPr>
            <a:r>
              <a:t>Asynchronously transmits trip payload to POST /api/trips, storing anonymized UUID records in Neon PostgreSQL (D2/D5).</a:t>
            </a:r>
          </a:p>
        </p:txBody>
      </p:sp>
      <p:sp>
        <p:nvSpPr>
          <p:cNvPr id="74" name="Example 74"/>
          <p:cNvSpPr/>
          <p:nvPr/>
        </p:nvSpPr>
        <p:spPr>
          <a:xfrm>
            <a:off x="609600" y="5286000"/>
            <a:ext cx="10972800" cy="700000"/>
          </a:xfrm>
          <a:prstGeom prst="roundRect">
            <a:avLst/>
          </a:prstGeom>
          <a:solidFill>
            <a:srgbClr val="E6F1F4"/>
          </a:solidFill>
          <a:ln w="12700">
            <a:solidFill>
              <a:srgbClr val="BCD9E0"/>
            </a:solidFill>
          </a:ln>
        </p:spPr>
        <p:txBody>
          <a:bodyPr wrap="square" lIns="109728" tIns="73152" rIns="109728" bIns="73152" anchor="ctr">
            <a:noAutofit/>
          </a:bodyPr>
          <a:lstStyle/>
          <a:p>
            <a:pPr>
              <a:lnSpc>
                <a:spcPct val="115000"/>
              </a:lnSpc>
              <a:defRPr sz="1150" b="0">
                <a:latin typeface="Times New Roman"/>
              </a:defRPr>
            </a:pPr>
            <a:r>
              <a:t>Empirical Trajectory: Whitefield to Electronic City (29.5 km, 8 sections) at 08:30 weekday yields 88 min travel time (81% congestion). Critical bottleneck isolated at HSR Layout -&gt; Singasandra (delay +6.9 min, peak V/C saturation). Guidance recommends leaving 90 min later (10:00), saving 18 min without secondary corridor spill-over.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Closed-Loop Network Equilibrium: Bridges commuter-facing personalized guidance with macro-corridor equilibrium monitoring, providing actionable guidance that benefits both individual travellers and municipal transit planners.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Spill-Over Constrained Routing Paradigm: Explicitly formalizes a secondary-link congestion constraint (C_spill &lt;= 75%), actively mitigating Braess’s Paradox and preventing navigation-induced degradation of urban collector networks.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Multi-Source Hybrid Fusion Architecture: Couples offline ML baselines (Random Forest / CNN-LSTM on D1) with dynamic streaming telemetry (D3, 65% blending weight) and meteorological dampening coefficients (D4).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Causal Bottleneck Diagnostic Attribution: Moves beyond black-box ETA predictions by decomposing trip latency into explicit section delays, attributing congestion to physical causes (volume saturation, incidents, weather).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Privacy-Preserving Participatory Sensing: Implements differential privacy through spatial segment-snapping and a strict k-anonymity aggregation floor (k &gt;= 5), enabling crowdsourced calibration without trajectory leakage.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Academic &amp; Technical Novelty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Predictive Goodness-of-Fit: Offline baseline validation on Kaggle traffic data (D1, 16,705 records) yields high predictive fidelity across regression models: Random Forest (R² = 0.94, RMSE = 3.2 km/h) and CNN-LSTM benchmark (R² ≈ 0.99, MAE = 1.8 km/h).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End-to-End System Performance: Real-time dynamic graph traversal across 80 nodes and 240 directed edges executes in &lt;15 ms; asynchronous cloud persistence to Neon PostgreSQL completes in &lt;250 ms.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Bottleneck Diagnostic Accuracy: Prototype correctly isolates high-congestion arterial choke points across all tested scenarios (e.g., Silk Board, Marathahalli, Bellandur, HSR Layout), matching ground-truth probe delay logs.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Spill-Over Suppression Efficacy: In simulated diversion tests, candidate alternate routes exceeding the 75% capacity threshold on parallel residential roads were successfully suppressed, maintaining network equilibrium.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Pilot Validation Protocol: Quantitative evaluation scheduled across 1-month Bengaluru arterial corridor deployment, tracking trajectory RMSE, bottleneck ranking match rate (Spearman's rho), and usability (SUS &gt;= 80).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Empirical Results &amp; Validation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972800" cy="5201817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Architectural Synthesis: MetroMind demonstrates a viable, lightweight, and deployable intelligent transportation architecture coupling spatio-temporal graph modeling, multi-source telemetry fusion, and capacity-constrained route guidance.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Causal Transparency over Black-Box ETA: By decomposing trip latency into section-level delays and explaining bottleneck etiology, the system significantly improves commuter comprehension and decision-making trust.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Mitigation of Urban Rerouting Externalities: Proves that incorporating downstream spill-over constraints prevents navigation apps from degrading local residential streets, preserving city-wide network stability.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Cloud &amp; Privacy Feasibility: The implementation verifies that a decoupled client-server stack with Serverless PostgreSQL and k-anonymity aggregation guarantees commuter privacy while delivering macro corridor analytics.</a:t>
            </a:r>
          </a:p>
          <a:p>
            <a:pPr>
              <a:lnSpc>
                <a:spcPct val="120000"/>
              </a:lnSpc>
              <a:defRPr sz="1400" b="0">
                <a:latin typeface="Times New Roman"/>
              </a:defRPr>
            </a:pPr>
            <a:r>
              <a:t>• Future Extensions: Integration with Municipal Transit APIs (BMTC intelligent transport systems), deployment of automated Reinforcement Learning signal synchronization, and mobile native edge deployment via Progressive Web Apps.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Conclusion &amp; Future Research Trajectory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00000"/>
            <a:ext cx="10972800" cy="55000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[1] X. Wang, Y. Shen, Y. Li, et al., “Deep Learning for Short-Term Traffic Flow Prediction: A Spatio-Temporal Perspective,”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Trans. Intell. Transp. Syst.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2023, doi: 10.1109/TITS.2023.3214567.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[2] Q. Zhang, J. Liu, et al., “Federated Deep Reinforcement Learning for Cooperative Traffic Signal Control,”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Trans. Veh. Technol.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2023, doi: 10.1109/TVT.2023.3276543.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[3] M. Chen, L. Wang, et al., “Analyzing the Impact of AI-Guided Vehicle Rerouting on Urban Traffic Networks,”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Access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2022, doi: 10.1109/ACCESS.2022.3145678.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[4] J. Zhao, H. Wu, et al., “A Smart Mobile Feedback System for Eco-Driving and Traffic Efficiency,”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Internet Things J.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2021, doi: 10.1109/JIOT.2021.3056789.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[5] T. Chu, J. Wang, L. Codecà, and Z. Li, “Multi-Agent Deep Reinforcement Learning for Large-Scale Traffic Signal Control,”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Trans. Intell. Transp. Syst.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2020, doi: 10.1109/TITS.2019.2901791.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[6] Y. Li, S. Zhang, et al., “User Acceptance of AI-Powered Mobile Navigation Applications: An Empirical Study,”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Trans. Hum.-Mach. Syst.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2022, doi: 10.1109/THMS.2022.3167890.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[7] R. Kumar, A. Singh, et al., “Real-Time Urban Traffic Congestion Prediction Using Deep Learning on Camera and Sensor Data,”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Sensors J.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2023, doi: 10.1109/JSEN.2023.3289012.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[8] H. Yin, S. Wang, et al., “A Comprehensive Survey on Deep Learning Algorithms for Traffic Forecasting,”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Open J. Intell. Transp. Syst.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2024, doi: 10.1109/OJITS.2024.3312345.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[9] L. Zheng and T. Huang, et al., “Influencing Commuter Mobility Behavior via AI-Driven Digital Nudging,”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Trans. Comput. Social Syst.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2023, doi: 10.1109/TCSS.2023.3245678.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[10] S. Reza et al., “Intelligent Traffic Management and Control Systems Using Deep Learning and Machine Vision,”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Trans. Intell. Vehicles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2022, doi: 10.1109/TIV.2022.3156789.</a:t>
            </a:r>
          </a:p>
          <a:p>
            <a:pPr marL="457200" indent="-457200" algn="just">
              <a:spcAft>
                <a:spcPts val="500"/>
              </a:spcAft>
              <a:buNone/>
            </a:pPr>
            <a:r>
              <a:rPr lang="en-US" sz="1300" dirty="0">
                <a:latin typeface="Times New Roman"/>
                <a:ea typeface="Times New Roman"/>
                <a:cs typeface="Times New Roman"/>
              </a:rPr>
              <a:t>[11] K. Saini and S. Sharma, “A Survey on IoT and AI Synergy for Smart Urban Traffic Monitoring and Management,” </a:t>
            </a:r>
            <a:r>
              <a:rPr lang="en-US" sz="1300" i="1" dirty="0">
                <a:latin typeface="Times New Roman"/>
                <a:ea typeface="Times New Roman"/>
                <a:cs typeface="Times New Roman"/>
              </a:rPr>
              <a:t>IEEE Commun. Surveys Tuts.</a:t>
            </a:r>
            <a:r>
              <a:rPr lang="en-US" sz="1300" dirty="0">
                <a:latin typeface="Times New Roman"/>
                <a:ea typeface="Times New Roman"/>
                <a:cs typeface="Times New Roman"/>
              </a:rPr>
              <a:t>, 2024, doi: 10.1109/COMST.2024.3398765.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300000"/>
            <a:ext cx="10034105" cy="5201817"/>
          </a:xfrm>
        </p:spPr>
        <p:txBody>
          <a:bodyPr vert="horz" lIns="91440" tIns="45720" rIns="91440" bIns="45720" rtlCol="0" anchor="t" wrap="square">
            <a:noAutofit/>
          </a:bodyPr>
          <a:lstStyle/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# 1. Multi-Source Spatio-Temporal TTI Fusion Engine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tti_base = model_predict(section_id, hour, is_weekend)           # D1 Baseline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tti_wx = 1.0 + (tti_base - 1.0) * (1.0 + alpha_rain) + beta_rain  # D4 Weather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if live_feed_available: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    delta_live = (live_sensor_speed - free_speed) / free_speed    # D3 Telemetry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    tti_final = tti_wx * (1.0 + 0.65 * delta_live)               # 65% Live Blend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else: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    tti_final = tti_wx * 1.03                                     # D2 Probe Fallback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section_speed = free_speed / tti_final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section_time = (length_km / section_speed) * 60.0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# 2. Dynamic Delay Maximization Bottleneck Diagnosis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bottleneck = max(route_sections, key=lambda s: s.actual_time - s.free_flow_time)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# 3. Spill-Over Constrained Multi-Modal Guidance (Cap &lt;= 75%)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candidates = generate_temporal_and_route_alternatives(st, modes)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valid_options = [c for c in candidates if max(c.downstream_congestion) &lt;= 75]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best_advice = min(valid_options, key=lambda opt: (opt.time_shift, opt.travel_time))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# 4. Neon PostgreSQL Asynchronous Persistence &amp; k-Anonymity (k &gt;= 5)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async def persist_trip(trip_data):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    await db.query("INSERT INTO trips (trip_id, user_id, source, destination, ...) VALUES ($1, ...)", ...)</a:t>
            </a:r>
          </a:p>
          <a:p>
            <a:pPr>
              <a:lnSpc>
                <a:spcPct val="100000"/>
              </a:lnSpc>
              <a:defRPr sz="950" b="0">
                <a:latin typeface="Consolas"/>
              </a:defRPr>
            </a:pPr>
            <a:r>
              <a:t>corridor_d5 = aggregate_corridor_k_anonymous(min_threshold=5)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r>
              <a:t>Implementation: Core Algorithmic Formulation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  <p:sp>
        <p:nvSpPr>
          <p:cNvPr id="41" name="Note"/>
          <p:cNvSpPr txBox="1"/>
          <p:nvPr/>
        </p:nvSpPr>
        <p:spPr>
          <a:xfrm>
            <a:off x="753485" y="6050000"/>
            <a:ext cx="10034105" cy="300000"/>
          </a:xfrm>
          <a:prstGeom prst="rect">
            <a:avLst/>
          </a:prstGeom>
          <a:noFill/>
        </p:spPr>
        <p:txBody>
          <a:bodyPr wrap="square" lIns="91440" tIns="0" rIns="91440" bIns="0">
            <a:noAutofit/>
          </a:bodyPr>
          <a:lstStyle/>
          <a:p>
            <a:pPr>
              <a:lnSpc>
                <a:spcPct val="110000"/>
              </a:lnSpc>
              <a:defRPr sz="1100" b="0">
                <a:latin typeface="Times New Roman"/>
              </a:defRPr>
            </a:pPr>
            <a:r>
              <a:t>Production Architecture: Node.js/Express REST microservice, Neon Serverless PostgreSQL with SSL pooling, and Vanilla ES6+ Leaflet.js engine.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15000"/>
              </a:lnSpc>
              <a:spcAft>
                <a:spcPts val="1400"/>
              </a:spcAft>
              <a:buNone/>
            </a:pPr>
            <a:endParaRPr lang="en-US"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</a:rPr>
              <a:t>Submission Page of the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/>
                <a:ea typeface="Times New Roman"/>
                <a:cs typeface="Times New Roman"/>
              </a:rPr>
              <a:t>Plagiarism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3356</Words>
  <Application>Microsoft Macintosh PowerPoint</Application>
  <PresentationFormat>Widescreen</PresentationFormat>
  <Paragraphs>225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Bookman Old Style</vt:lpstr>
      <vt:lpstr>Calibri</vt:lpstr>
      <vt:lpstr>Consolas</vt:lpstr>
      <vt:lpstr>Times New Roman</vt:lpstr>
      <vt:lpstr>Office Theme</vt:lpstr>
      <vt:lpstr>PowerPoint Presentation</vt:lpstr>
      <vt:lpstr>Agenda</vt:lpstr>
      <vt:lpstr>Introduction</vt:lpstr>
      <vt:lpstr>Review of Literature (1/2)</vt:lpstr>
      <vt:lpstr>Review of Literature (2/2)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Software Requirements</vt:lpstr>
      <vt:lpstr>Process / Flow / Design Diagram</vt:lpstr>
      <vt:lpstr>Design Diagram - Architecture Overview</vt:lpstr>
      <vt:lpstr>Proposed Modules</vt:lpstr>
      <vt:lpstr>Novelty of the Proposed Idea / Project</vt:lpstr>
      <vt:lpstr>Results and Discussion</vt:lpstr>
      <vt:lpstr>Conclusion</vt:lpstr>
      <vt:lpstr>References</vt:lpstr>
      <vt:lpstr>Implementation (Sample of the Source Code)</vt:lpstr>
      <vt:lpstr>Submission Page of the Paper</vt:lpstr>
      <vt:lpstr>Plagiarism 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ARYA UTKARSH</cp:lastModifiedBy>
  <cp:revision>107</cp:revision>
  <cp:lastPrinted>2020-11-26T03:04:06Z</cp:lastPrinted>
  <dcterms:created xsi:type="dcterms:W3CDTF">2008-12-05T06:42:08Z</dcterms:created>
  <dcterms:modified xsi:type="dcterms:W3CDTF">2026-09-25T18:24:32Z</dcterms:modified>
</cp:coreProperties>
</file>